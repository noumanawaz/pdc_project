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Oswald Bold" charset="1" panose="00000800000000000000"/>
      <p:regular r:id="rId22"/>
    </p:embeddedFont>
    <p:embeddedFont>
      <p:font typeface="Montserrat Classic Bold" charset="1" panose="00000800000000000000"/>
      <p:regular r:id="rId23"/>
    </p:embeddedFont>
    <p:embeddedFont>
      <p:font typeface="Klein Bold" charset="1" panose="02000503060000020004"/>
      <p:regular r:id="rId24"/>
    </p:embeddedFont>
    <p:embeddedFont>
      <p:font typeface="DM Sans Bold" charset="1" panose="00000000000000000000"/>
      <p:regular r:id="rId25"/>
    </p:embeddedFont>
    <p:embeddedFont>
      <p:font typeface="Helios" charset="1" panose="020B0504020202020204"/>
      <p:regular r:id="rId26"/>
    </p:embeddedFont>
    <p:embeddedFont>
      <p:font typeface="Helvetica World" charset="1" panose="020B0500040000020004"/>
      <p:regular r:id="rId27"/>
    </p:embeddedFont>
    <p:embeddedFont>
      <p:font typeface="DM Sans" charset="1" panose="00000000000000000000"/>
      <p:regular r:id="rId28"/>
    </p:embeddedFont>
    <p:embeddedFont>
      <p:font typeface="Helvetica World Bold" charset="1" panose="020B0800040000020004"/>
      <p:regular r:id="rId29"/>
    </p:embeddedFont>
    <p:embeddedFont>
      <p:font typeface="Helios Bold" charset="1" panose="020B0704020202020204"/>
      <p:regular r:id="rId30"/>
    </p:embeddedFont>
    <p:embeddedFont>
      <p:font typeface="Oswald" charset="1" panose="00000500000000000000"/>
      <p:regular r:id="rId31"/>
    </p:embeddedFont>
    <p:embeddedFont>
      <p:font typeface="Montserrat Light" charset="1" panose="00000400000000000000"/>
      <p:regular r:id="rId32"/>
    </p:embeddedFont>
    <p:embeddedFont>
      <p:font typeface="Klein" charset="1" panose="02000503060000020004"/>
      <p:regular r:id="rId33"/>
    </p:embeddedFont>
    <p:embeddedFont>
      <p:font typeface="DM Sans Italics" charset="1" panose="000000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66927" y="-4280359"/>
            <a:ext cx="10812392" cy="10812392"/>
          </a:xfrm>
          <a:custGeom>
            <a:avLst/>
            <a:gdLst/>
            <a:ahLst/>
            <a:cxnLst/>
            <a:rect r="r" b="b" t="t" l="l"/>
            <a:pathLst>
              <a:path h="10812392" w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07200" y="4432068"/>
            <a:ext cx="5764383" cy="5764383"/>
          </a:xfrm>
          <a:custGeom>
            <a:avLst/>
            <a:gdLst/>
            <a:ahLst/>
            <a:cxnLst/>
            <a:rect r="r" b="b" t="t" l="l"/>
            <a:pathLst>
              <a:path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078" y="7902203"/>
            <a:ext cx="5764383" cy="5764383"/>
          </a:xfrm>
          <a:custGeom>
            <a:avLst/>
            <a:gdLst/>
            <a:ahLst/>
            <a:cxnLst/>
            <a:rect r="r" b="b" t="t" l="l"/>
            <a:pathLst>
              <a:path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231578" y="2992830"/>
            <a:ext cx="11548775" cy="4791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2"/>
              </a:lnSpc>
            </a:pPr>
            <a:r>
              <a:rPr lang="en-US" b="true" sz="4863" spc="476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A Parallel Algorithm for Constructing Multiple Independent Spanning Trees in Bubble‑Sort Networks</a:t>
            </a:r>
          </a:p>
          <a:p>
            <a:pPr algn="ctr">
              <a:lnSpc>
                <a:spcPts val="116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786653" y="7266635"/>
            <a:ext cx="12848809" cy="226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1"/>
              </a:lnSpc>
            </a:pPr>
            <a:r>
              <a:rPr lang="en-US" b="true" sz="2653" spc="140">
                <a:solidFill>
                  <a:srgbClr val="231F2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GROUP MEMBERS :  </a:t>
            </a:r>
          </a:p>
          <a:p>
            <a:pPr algn="ctr">
              <a:lnSpc>
                <a:spcPts val="3661"/>
              </a:lnSpc>
            </a:pPr>
            <a:r>
              <a:rPr lang="en-US" b="true" sz="2653" spc="140">
                <a:solidFill>
                  <a:srgbClr val="231F2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SAAD AWAIS 22I-1303</a:t>
            </a:r>
          </a:p>
          <a:p>
            <a:pPr algn="ctr">
              <a:lnSpc>
                <a:spcPts val="3661"/>
              </a:lnSpc>
            </a:pPr>
            <a:r>
              <a:rPr lang="en-US" b="true" sz="2653" spc="140">
                <a:solidFill>
                  <a:srgbClr val="231F2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NOUMAN NAWAZ 22I-0752</a:t>
            </a:r>
          </a:p>
          <a:p>
            <a:pPr algn="ctr">
              <a:lnSpc>
                <a:spcPts val="3661"/>
              </a:lnSpc>
            </a:pPr>
            <a:r>
              <a:rPr lang="en-US" b="true" sz="2653" spc="140">
                <a:solidFill>
                  <a:srgbClr val="231F2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MUZZAMIL HISSAN 22I-0881</a:t>
            </a:r>
          </a:p>
          <a:p>
            <a:pPr algn="ctr">
              <a:lnSpc>
                <a:spcPts val="3661"/>
              </a:lnSpc>
            </a:pPr>
            <a:r>
              <a:rPr lang="en-US" b="true" sz="2653" spc="140">
                <a:solidFill>
                  <a:srgbClr val="231F2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   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9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18288000" cy="3773114"/>
            <a:chOff x="0" y="0"/>
            <a:chExt cx="24384000" cy="5030819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>
              <a:alphaModFix amt="14000"/>
            </a:blip>
            <a:srcRect l="0" t="27933" r="0" b="41099"/>
            <a:stretch>
              <a:fillRect/>
            </a:stretch>
          </p:blipFill>
          <p:spPr>
            <a:xfrm flipH="false" flipV="false">
              <a:off x="0" y="0"/>
              <a:ext cx="24384000" cy="5030819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525" y="3773114"/>
            <a:ext cx="18288000" cy="6513886"/>
            <a:chOff x="0" y="0"/>
            <a:chExt cx="4816593" cy="17155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715591"/>
            </a:xfrm>
            <a:custGeom>
              <a:avLst/>
              <a:gdLst/>
              <a:ahLst/>
              <a:cxnLst/>
              <a:rect r="r" b="b" t="t" l="l"/>
              <a:pathLst>
                <a:path h="171559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15591"/>
                  </a:lnTo>
                  <a:lnTo>
                    <a:pt x="0" y="17155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16593" cy="1772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639504" y="1391465"/>
            <a:ext cx="9008992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999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Back</a:t>
            </a:r>
            <a:r>
              <a:rPr lang="en-US" b="true" sz="6999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ground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333203" y="-1109791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333203" y="9678747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098331" y="4848073"/>
            <a:ext cx="2551375" cy="2622909"/>
          </a:xfrm>
          <a:custGeom>
            <a:avLst/>
            <a:gdLst/>
            <a:ahLst/>
            <a:cxnLst/>
            <a:rect r="r" b="b" t="t" l="l"/>
            <a:pathLst>
              <a:path h="2622909" w="2551375">
                <a:moveTo>
                  <a:pt x="0" y="0"/>
                </a:moveTo>
                <a:lnTo>
                  <a:pt x="2551376" y="0"/>
                </a:lnTo>
                <a:lnTo>
                  <a:pt x="2551376" y="2622909"/>
                </a:lnTo>
                <a:lnTo>
                  <a:pt x="0" y="26229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876562" y="4111594"/>
            <a:ext cx="5948826" cy="5567153"/>
          </a:xfrm>
          <a:custGeom>
            <a:avLst/>
            <a:gdLst/>
            <a:ahLst/>
            <a:cxnLst/>
            <a:rect r="r" b="b" t="t" l="l"/>
            <a:pathLst>
              <a:path h="5567153" w="5948826">
                <a:moveTo>
                  <a:pt x="0" y="0"/>
                </a:moveTo>
                <a:lnTo>
                  <a:pt x="5948826" y="0"/>
                </a:lnTo>
                <a:lnTo>
                  <a:pt x="5948826" y="5567153"/>
                </a:lnTo>
                <a:lnTo>
                  <a:pt x="0" y="55671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41513" y="4657180"/>
            <a:ext cx="6162866" cy="78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4517" indent="-247259" lvl="1">
              <a:lnSpc>
                <a:spcPts val="3160"/>
              </a:lnSpc>
              <a:buFont typeface="Arial"/>
              <a:buChar char="•"/>
            </a:pPr>
            <a:r>
              <a:rPr lang="en-US" b="true" sz="2290" spc="224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Reliable broadcast ⇒ need disjoint paths ⟶ fault‑tolerance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72912" y="5757260"/>
            <a:ext cx="6162866" cy="78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4517" indent="-247259" lvl="1">
              <a:lnSpc>
                <a:spcPts val="3160"/>
              </a:lnSpc>
              <a:buFont typeface="Arial"/>
              <a:buChar char="•"/>
            </a:pPr>
            <a:r>
              <a:rPr lang="en-US" b="true" sz="2290" spc="224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Secure distribution ⇒ split packets over multiple trees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83447" y="8490157"/>
            <a:ext cx="4135657" cy="55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8"/>
              </a:lnSpc>
            </a:pPr>
            <a:r>
              <a:rPr lang="en-US" b="true" sz="3281" spc="321">
                <a:solidFill>
                  <a:srgbClr val="FDFBFB"/>
                </a:solidFill>
                <a:latin typeface="DM Sans Bold"/>
                <a:ea typeface="DM Sans Bold"/>
                <a:cs typeface="DM Sans Bold"/>
                <a:sym typeface="DM Sans Bold"/>
              </a:rPr>
              <a:t>ELASTIC SEARCH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41513" y="6857071"/>
            <a:ext cx="5935311" cy="118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4516" indent="-247258" lvl="1">
              <a:lnSpc>
                <a:spcPts val="31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0" spc="224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Independent spanning trees (ISTs) provide both guarantees</a:t>
            </a:r>
          </a:p>
          <a:p>
            <a:pPr algn="l">
              <a:lnSpc>
                <a:spcPts val="316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741513" y="8080232"/>
            <a:ext cx="5935311" cy="118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4516" indent="-247258" lvl="1">
              <a:lnSpc>
                <a:spcPts val="3160"/>
              </a:lnSpc>
              <a:buFont typeface="Arial"/>
              <a:buChar char="•"/>
            </a:pPr>
            <a:r>
              <a:rPr lang="en-US" b="true" sz="2290" spc="224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Bubble‑sort networks (Cayley graphs on permutations) as target topology ​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34458" y="-3417081"/>
            <a:ext cx="16683251" cy="16683251"/>
            <a:chOff x="0" y="0"/>
            <a:chExt cx="22244334" cy="22244334"/>
          </a:xfrm>
        </p:grpSpPr>
        <p:sp>
          <p:nvSpPr>
            <p:cNvPr name="Freeform 3" id="3"/>
            <p:cNvSpPr/>
            <p:nvPr/>
          </p:nvSpPr>
          <p:spPr>
            <a:xfrm flipH="false" flipV="false" rot="-1200957">
              <a:off x="2445712" y="2445712"/>
              <a:ext cx="17352910" cy="17352910"/>
            </a:xfrm>
            <a:custGeom>
              <a:avLst/>
              <a:gdLst/>
              <a:ahLst/>
              <a:cxnLst/>
              <a:rect r="r" b="b" t="t" l="l"/>
              <a:pathLst>
                <a:path h="17352910" w="17352910">
                  <a:moveTo>
                    <a:pt x="0" y="0"/>
                  </a:moveTo>
                  <a:lnTo>
                    <a:pt x="17352910" y="0"/>
                  </a:lnTo>
                  <a:lnTo>
                    <a:pt x="17352910" y="17352910"/>
                  </a:lnTo>
                  <a:lnTo>
                    <a:pt x="0" y="17352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219247" y="2219247"/>
              <a:ext cx="17352910" cy="17352910"/>
            </a:xfrm>
            <a:custGeom>
              <a:avLst/>
              <a:gdLst/>
              <a:ahLst/>
              <a:cxnLst/>
              <a:rect r="r" b="b" t="t" l="l"/>
              <a:pathLst>
                <a:path h="17352910" w="17352910">
                  <a:moveTo>
                    <a:pt x="0" y="0"/>
                  </a:moveTo>
                  <a:lnTo>
                    <a:pt x="17352910" y="0"/>
                  </a:lnTo>
                  <a:lnTo>
                    <a:pt x="17352910" y="17352910"/>
                  </a:lnTo>
                  <a:lnTo>
                    <a:pt x="0" y="17352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03275" y="495007"/>
            <a:ext cx="6853373" cy="8280606"/>
            <a:chOff x="0" y="0"/>
            <a:chExt cx="9137831" cy="1104080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9137831" cy="14921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085"/>
                </a:lnSpc>
              </a:pPr>
              <a:r>
                <a:rPr lang="en-US" sz="6988" b="true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Pr</a:t>
              </a:r>
              <a:r>
                <a:rPr lang="en-US" b="true" sz="6988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eliminaries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04968"/>
              <a:ext cx="8249821" cy="89358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89785" indent="-344893" lvl="1">
                <a:lnSpc>
                  <a:spcPts val="4472"/>
                </a:lnSpc>
                <a:buFont typeface="Arial"/>
                <a:buChar char="•"/>
              </a:pPr>
              <a:r>
                <a:rPr lang="en-US" sz="3194" spc="313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Σₙ</a:t>
              </a:r>
              <a:r>
                <a:rPr lang="en-US" sz="3194" spc="313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= set of all permutations of {1…n}</a:t>
              </a:r>
            </a:p>
            <a:p>
              <a:pPr algn="l">
                <a:lnSpc>
                  <a:spcPts val="4472"/>
                </a:lnSpc>
              </a:pPr>
            </a:p>
            <a:p>
              <a:pPr algn="l" marL="689785" indent="-344893" lvl="1">
                <a:lnSpc>
                  <a:spcPts val="4472"/>
                </a:lnSpc>
                <a:buFont typeface="Arial"/>
                <a:buChar char="•"/>
              </a:pPr>
              <a:r>
                <a:rPr lang="en-US" sz="3194" spc="313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Adjacent‐swap: p〈i〉 swaps positions i &amp; i+1</a:t>
              </a:r>
            </a:p>
            <a:p>
              <a:pPr algn="l">
                <a:lnSpc>
                  <a:spcPts val="4472"/>
                </a:lnSpc>
              </a:pPr>
            </a:p>
            <a:p>
              <a:pPr algn="l" marL="689785" indent="-344893" lvl="1">
                <a:lnSpc>
                  <a:spcPts val="4472"/>
                </a:lnSpc>
                <a:buFont typeface="Arial"/>
                <a:buChar char="•"/>
              </a:pPr>
              <a:r>
                <a:rPr lang="en-US" sz="3194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Bₙ = graph on Σₙ with edges p–p〈i〉 for i=1…n–1</a:t>
              </a:r>
            </a:p>
            <a:p>
              <a:pPr algn="l">
                <a:lnSpc>
                  <a:spcPts val="4472"/>
                </a:lnSpc>
              </a:pPr>
            </a:p>
            <a:p>
              <a:pPr algn="l" marL="689785" indent="-344893" lvl="1">
                <a:lnSpc>
                  <a:spcPts val="4472"/>
                </a:lnSpc>
                <a:buFont typeface="Arial"/>
                <a:buChar char="•"/>
              </a:pPr>
              <a:r>
                <a:rPr lang="en-US" sz="3194" spc="313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Connectivity = n–1, diameter D(Bₙ)=n(n–1)/2</a:t>
              </a:r>
            </a:p>
            <a:p>
              <a:pPr algn="l">
                <a:lnSpc>
                  <a:spcPts val="447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055848" y="2729314"/>
            <a:ext cx="9678047" cy="3811992"/>
          </a:xfrm>
          <a:custGeom>
            <a:avLst/>
            <a:gdLst/>
            <a:ahLst/>
            <a:cxnLst/>
            <a:rect r="r" b="b" t="t" l="l"/>
            <a:pathLst>
              <a:path h="3811992" w="9678047">
                <a:moveTo>
                  <a:pt x="0" y="0"/>
                </a:moveTo>
                <a:lnTo>
                  <a:pt x="9678047" y="0"/>
                </a:lnTo>
                <a:lnTo>
                  <a:pt x="9678047" y="3811992"/>
                </a:lnTo>
                <a:lnTo>
                  <a:pt x="0" y="38119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066" t="0" r="-11066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00262" y="2535487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08998" y="6276492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9411059" cy="10287000"/>
            <a:chOff x="0" y="0"/>
            <a:chExt cx="247863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786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78633">
                  <a:moveTo>
                    <a:pt x="0" y="0"/>
                  </a:moveTo>
                  <a:lnTo>
                    <a:pt x="2478633" y="0"/>
                  </a:lnTo>
                  <a:lnTo>
                    <a:pt x="24786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7863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1359369"/>
            <a:ext cx="6746873" cy="229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true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B</a:t>
            </a:r>
            <a:r>
              <a:rPr lang="en-US" b="true" sz="6999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ubble‑Sort Network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2392" y="4099931"/>
            <a:ext cx="8726275" cy="4179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0135" indent="-370067" lvl="1">
              <a:lnSpc>
                <a:spcPts val="4730"/>
              </a:lnSpc>
              <a:buFont typeface="Arial"/>
              <a:buChar char="•"/>
            </a:pPr>
            <a:r>
              <a:rPr lang="en-US" sz="3428" spc="335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Vertices = 24 permutations of {1,2,3,4}</a:t>
            </a:r>
          </a:p>
          <a:p>
            <a:pPr algn="l" marL="740135" indent="-370067" lvl="1">
              <a:lnSpc>
                <a:spcPts val="4730"/>
              </a:lnSpc>
              <a:buFont typeface="Arial"/>
              <a:buChar char="•"/>
            </a:pPr>
            <a:r>
              <a:rPr lang="en-US" sz="3428" spc="335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Degree = 3 (swap positions 1–2, 2–3, or 3–4)</a:t>
            </a:r>
          </a:p>
          <a:p>
            <a:pPr algn="l" marL="740135" indent="-370067" lvl="1">
              <a:lnSpc>
                <a:spcPts val="4730"/>
              </a:lnSpc>
              <a:buFont typeface="Arial"/>
              <a:buChar char="•"/>
            </a:pPr>
            <a:r>
              <a:rPr lang="en-US" sz="3428" spc="335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Highly symmetric, regular, vertex‑transitive</a:t>
            </a:r>
          </a:p>
          <a:p>
            <a:pPr algn="l">
              <a:lnSpc>
                <a:spcPts val="473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386876" y="1190066"/>
            <a:ext cx="7383522" cy="7472271"/>
          </a:xfrm>
          <a:custGeom>
            <a:avLst/>
            <a:gdLst/>
            <a:ahLst/>
            <a:cxnLst/>
            <a:rect r="r" b="b" t="t" l="l"/>
            <a:pathLst>
              <a:path h="7472271" w="7383522">
                <a:moveTo>
                  <a:pt x="0" y="0"/>
                </a:moveTo>
                <a:lnTo>
                  <a:pt x="7383522" y="0"/>
                </a:lnTo>
                <a:lnTo>
                  <a:pt x="7383522" y="7472271"/>
                </a:lnTo>
                <a:lnTo>
                  <a:pt x="0" y="7472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01" t="0" r="-5001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27757" y="270861"/>
            <a:ext cx="10906040" cy="2420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02"/>
              </a:lnSpc>
            </a:pPr>
            <a:r>
              <a:rPr lang="en-US" b="true" sz="7030" spc="689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INDEPENDENT SPANNING TREES (ISTS)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78776" y="3979698"/>
            <a:ext cx="7702000" cy="5729821"/>
          </a:xfrm>
          <a:custGeom>
            <a:avLst/>
            <a:gdLst/>
            <a:ahLst/>
            <a:cxnLst/>
            <a:rect r="r" b="b" t="t" l="l"/>
            <a:pathLst>
              <a:path h="5729821" w="7702000">
                <a:moveTo>
                  <a:pt x="0" y="0"/>
                </a:moveTo>
                <a:lnTo>
                  <a:pt x="7702001" y="0"/>
                </a:lnTo>
                <a:lnTo>
                  <a:pt x="7702001" y="5729822"/>
                </a:lnTo>
                <a:lnTo>
                  <a:pt x="0" y="57298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331505" y="3932073"/>
            <a:ext cx="8522615" cy="6009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571" indent="-298786" lvl="1">
              <a:lnSpc>
                <a:spcPts val="3819"/>
              </a:lnSpc>
              <a:buFont typeface="Arial"/>
              <a:buChar char="•"/>
            </a:pPr>
            <a:r>
              <a:rPr lang="en-US" sz="2767" spc="271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 spanning tree T: connects all nodes, no cycles</a:t>
            </a:r>
          </a:p>
          <a:p>
            <a:pPr algn="l">
              <a:lnSpc>
                <a:spcPts val="3819"/>
              </a:lnSpc>
            </a:pPr>
          </a:p>
          <a:p>
            <a:pPr algn="l" marL="597571" indent="-298786" lvl="1">
              <a:lnSpc>
                <a:spcPts val="3819"/>
              </a:lnSpc>
              <a:buFont typeface="Arial"/>
              <a:buChar char="•"/>
            </a:pPr>
            <a:r>
              <a:rPr lang="en-US" sz="2767" spc="271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Two trees T¹, T² are independent if for any v≠r, paths v→r in T¹/T² share only v &amp; r.</a:t>
            </a:r>
          </a:p>
          <a:p>
            <a:pPr algn="l">
              <a:lnSpc>
                <a:spcPts val="3819"/>
              </a:lnSpc>
            </a:pPr>
          </a:p>
          <a:p>
            <a:pPr algn="l" marL="597571" indent="-298786" lvl="1">
              <a:lnSpc>
                <a:spcPts val="3819"/>
              </a:lnSpc>
              <a:buFont typeface="Arial"/>
              <a:buChar char="•"/>
            </a:pPr>
            <a:r>
              <a:rPr lang="en-US" sz="2767" spc="271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2767" spc="271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n a k‑connected graph up to k ISTs exist</a:t>
            </a:r>
          </a:p>
          <a:p>
            <a:pPr algn="l">
              <a:lnSpc>
                <a:spcPts val="3819"/>
              </a:lnSpc>
            </a:pPr>
            <a:r>
              <a:rPr lang="en-US" sz="2767" spc="271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​</a:t>
            </a:r>
          </a:p>
          <a:p>
            <a:pPr algn="l" marL="597571" indent="-298786" lvl="1">
              <a:lnSpc>
                <a:spcPts val="3819"/>
              </a:lnSpc>
              <a:buFont typeface="Arial"/>
              <a:buChar char="•"/>
            </a:pPr>
            <a:r>
              <a:rPr lang="en-US" sz="2767" spc="271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Goal: build n–1 ISTs in B</a:t>
            </a:r>
          </a:p>
          <a:p>
            <a:pPr algn="l">
              <a:lnSpc>
                <a:spcPts val="3129"/>
              </a:lnSpc>
            </a:pPr>
          </a:p>
          <a:p>
            <a:pPr algn="l">
              <a:lnSpc>
                <a:spcPts val="312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10812" y="4805196"/>
            <a:ext cx="670457" cy="676608"/>
          </a:xfrm>
          <a:custGeom>
            <a:avLst/>
            <a:gdLst/>
            <a:ahLst/>
            <a:cxnLst/>
            <a:rect r="r" b="b" t="t" l="l"/>
            <a:pathLst>
              <a:path h="676608" w="670457">
                <a:moveTo>
                  <a:pt x="0" y="0"/>
                </a:moveTo>
                <a:lnTo>
                  <a:pt x="670458" y="0"/>
                </a:lnTo>
                <a:lnTo>
                  <a:pt x="670458" y="676608"/>
                </a:lnTo>
                <a:lnTo>
                  <a:pt x="0" y="6766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33254" y="7543282"/>
            <a:ext cx="442544" cy="627318"/>
          </a:xfrm>
          <a:custGeom>
            <a:avLst/>
            <a:gdLst/>
            <a:ahLst/>
            <a:cxnLst/>
            <a:rect r="r" b="b" t="t" l="l"/>
            <a:pathLst>
              <a:path h="627318" w="442544">
                <a:moveTo>
                  <a:pt x="0" y="0"/>
                </a:moveTo>
                <a:lnTo>
                  <a:pt x="442544" y="0"/>
                </a:lnTo>
                <a:lnTo>
                  <a:pt x="442544" y="627318"/>
                </a:lnTo>
                <a:lnTo>
                  <a:pt x="0" y="6273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3741965"/>
            <a:ext cx="8596572" cy="4114976"/>
          </a:xfrm>
          <a:custGeom>
            <a:avLst/>
            <a:gdLst/>
            <a:ahLst/>
            <a:cxnLst/>
            <a:rect r="r" b="b" t="t" l="l"/>
            <a:pathLst>
              <a:path h="4114976" w="8596572">
                <a:moveTo>
                  <a:pt x="0" y="0"/>
                </a:moveTo>
                <a:lnTo>
                  <a:pt x="8596572" y="0"/>
                </a:lnTo>
                <a:lnTo>
                  <a:pt x="8596572" y="4114976"/>
                </a:lnTo>
                <a:lnTo>
                  <a:pt x="0" y="41149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650" t="0" r="-9135" b="-298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39239" y="3532794"/>
            <a:ext cx="8726275" cy="5028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2188" indent="-316094" lvl="1">
              <a:lnSpc>
                <a:spcPts val="4040"/>
              </a:lnSpc>
              <a:buFont typeface="Arial"/>
              <a:buChar char="•"/>
            </a:pPr>
            <a:r>
              <a:rPr lang="en-US" b="true" sz="2928" spc="286">
                <a:solidFill>
                  <a:srgbClr val="231F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Purpose</a:t>
            </a:r>
            <a:r>
              <a:rPr lang="en-US" sz="2928" spc="286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move symbol x one step toward the “right” in permutation v</a:t>
            </a:r>
          </a:p>
          <a:p>
            <a:pPr algn="l">
              <a:lnSpc>
                <a:spcPts val="4040"/>
              </a:lnSpc>
            </a:pPr>
          </a:p>
          <a:p>
            <a:pPr algn="l" marL="632188" indent="-316094" lvl="1">
              <a:lnSpc>
                <a:spcPts val="4040"/>
              </a:lnSpc>
              <a:buFont typeface="Arial"/>
              <a:buChar char="•"/>
            </a:pPr>
            <a:r>
              <a:rPr lang="en-US" b="true" sz="2928" spc="286">
                <a:solidFill>
                  <a:srgbClr val="231F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Input</a:t>
            </a:r>
            <a:r>
              <a:rPr lang="en-US" sz="2928" spc="286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v=p₁…pₙ, symbol x</a:t>
            </a:r>
          </a:p>
          <a:p>
            <a:pPr algn="l" marL="632188" indent="-316094" lvl="1">
              <a:lnSpc>
                <a:spcPts val="4040"/>
              </a:lnSpc>
              <a:buFont typeface="Arial"/>
              <a:buChar char="•"/>
            </a:pPr>
            <a:r>
              <a:rPr lang="en-US" b="true" sz="2928" spc="286">
                <a:solidFill>
                  <a:srgbClr val="231F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Steps</a:t>
            </a:r>
            <a:r>
              <a:rPr lang="en-US" sz="2928" spc="286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</a:t>
            </a:r>
          </a:p>
          <a:p>
            <a:pPr algn="l" marL="632188" indent="-316094" lvl="1">
              <a:lnSpc>
                <a:spcPts val="4040"/>
              </a:lnSpc>
              <a:buFont typeface="Arial"/>
              <a:buChar char="•"/>
            </a:pPr>
            <a:r>
              <a:rPr lang="en-US" sz="2928" spc="286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Find i = p⁻¹(x) (precomputed inverse)</a:t>
            </a:r>
          </a:p>
          <a:p>
            <a:pPr algn="l" marL="632188" indent="-316094" lvl="1">
              <a:lnSpc>
                <a:spcPts val="4040"/>
              </a:lnSpc>
              <a:buFont typeface="Arial"/>
              <a:buChar char="•"/>
            </a:pPr>
            <a:r>
              <a:rPr lang="en-US" sz="2928" spc="286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Return v〈i〉 (swap positions i &amp; i+1)</a:t>
            </a:r>
          </a:p>
          <a:p>
            <a:pPr algn="l" marL="632188" indent="-316094" lvl="1">
              <a:lnSpc>
                <a:spcPts val="4040"/>
              </a:lnSpc>
              <a:buFont typeface="Arial"/>
              <a:buChar char="•"/>
            </a:pPr>
            <a:r>
              <a:rPr lang="en-US" sz="2928" spc="286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Example: v= 4231, x=3 ➔ positions: p⁻¹(3)=4 ➔ swap p₄&amp;p₅ ⇒ 4213</a:t>
            </a:r>
          </a:p>
          <a:p>
            <a:pPr algn="l">
              <a:lnSpc>
                <a:spcPts val="404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-1009445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6"/>
                </a:lnTo>
                <a:lnTo>
                  <a:pt x="0" y="36087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780863" y="952500"/>
            <a:ext cx="8726275" cy="925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76"/>
              </a:lnSpc>
            </a:pPr>
            <a:r>
              <a:rPr lang="en-US" b="true" sz="5128" spc="502">
                <a:solidFill>
                  <a:srgbClr val="FDFBF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Function Swap(v, x)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67201" y="-2440650"/>
            <a:ext cx="15978794" cy="15978794"/>
          </a:xfrm>
          <a:custGeom>
            <a:avLst/>
            <a:gdLst/>
            <a:ahLst/>
            <a:cxnLst/>
            <a:rect r="r" b="b" t="t" l="l"/>
            <a:pathLst>
              <a:path h="15978794" w="15978794">
                <a:moveTo>
                  <a:pt x="0" y="0"/>
                </a:moveTo>
                <a:lnTo>
                  <a:pt x="15978794" y="0"/>
                </a:lnTo>
                <a:lnTo>
                  <a:pt x="15978794" y="15978794"/>
                </a:lnTo>
                <a:lnTo>
                  <a:pt x="0" y="15978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6844" y="3884824"/>
            <a:ext cx="7878505" cy="3009128"/>
          </a:xfrm>
          <a:custGeom>
            <a:avLst/>
            <a:gdLst/>
            <a:ahLst/>
            <a:cxnLst/>
            <a:rect r="r" b="b" t="t" l="l"/>
            <a:pathLst>
              <a:path h="3009128" w="7878505">
                <a:moveTo>
                  <a:pt x="0" y="0"/>
                </a:moveTo>
                <a:lnTo>
                  <a:pt x="7878504" y="0"/>
                </a:lnTo>
                <a:lnTo>
                  <a:pt x="7878504" y="3009128"/>
                </a:lnTo>
                <a:lnTo>
                  <a:pt x="0" y="30091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734" t="0" r="-948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611593" y="2548492"/>
            <a:ext cx="8113124" cy="5415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6999" indent="-303499" lvl="1">
              <a:lnSpc>
                <a:spcPts val="6185"/>
              </a:lnSpc>
              <a:buFont typeface="Arial"/>
              <a:buChar char="•"/>
            </a:pPr>
            <a:r>
              <a:rPr lang="en-US" sz="2811" spc="137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Handles special “last‐symbol = n” cases</a:t>
            </a:r>
          </a:p>
          <a:p>
            <a:pPr algn="l" marL="606999" indent="-303499" lvl="1">
              <a:lnSpc>
                <a:spcPts val="6185"/>
              </a:lnSpc>
              <a:buFont typeface="Arial"/>
              <a:buChar char="•"/>
            </a:pPr>
            <a:r>
              <a:rPr lang="en-US" sz="2811" spc="275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If t=2 &amp; Swap(v,2)=1ₙ Swap(v,1)</a:t>
            </a:r>
            <a:r>
              <a:rPr lang="en-US" sz="2811" spc="275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Steps:</a:t>
            </a:r>
          </a:p>
          <a:p>
            <a:pPr algn="l" marL="606999" indent="-303499" lvl="1">
              <a:lnSpc>
                <a:spcPts val="6185"/>
              </a:lnSpc>
              <a:buFont typeface="Arial"/>
              <a:buChar char="•"/>
            </a:pPr>
            <a:r>
              <a:rPr lang="en-US" sz="2811" spc="275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Else if pₙ₋₁ ∈ {t, n–1} ⇒ j=r(v) (rightmost misplace) ⇒ Swap(v,j)</a:t>
            </a:r>
          </a:p>
          <a:p>
            <a:pPr algn="l" marL="606999" indent="-303499" lvl="1">
              <a:lnSpc>
                <a:spcPts val="6185"/>
              </a:lnSpc>
              <a:buFont typeface="Arial"/>
              <a:buChar char="•"/>
            </a:pPr>
            <a:r>
              <a:rPr lang="en-US" sz="2811" spc="275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Else ⇒ Swap(v,t)</a:t>
            </a:r>
          </a:p>
          <a:p>
            <a:pPr algn="l" marL="606999" indent="-303499" lvl="1">
              <a:lnSpc>
                <a:spcPts val="6185"/>
              </a:lnSpc>
              <a:buFont typeface="Arial"/>
              <a:buChar char="•"/>
            </a:pPr>
            <a:r>
              <a:rPr lang="en-US" b="true" sz="2811" spc="275" u="none">
                <a:solidFill>
                  <a:srgbClr val="231F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Example:</a:t>
            </a:r>
            <a:r>
              <a:rPr lang="en-US" sz="2811" spc="275" u="none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v= 5 4 3 2 1 (n=5), t=3 ⇒ p₄=2∉{3,4} ⇒ Swap(v,3)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20728" y="417848"/>
            <a:ext cx="8622621" cy="7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b="true" sz="4565" spc="447">
                <a:solidFill>
                  <a:srgbClr val="2A2E3A"/>
                </a:solidFill>
                <a:latin typeface="Oswald Bold"/>
                <a:ea typeface="Oswald Bold"/>
                <a:cs typeface="Oswald Bold"/>
                <a:sym typeface="Oswald Bold"/>
              </a:rPr>
              <a:t>FUNCTION FINDPOSITION(V, T)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10812" y="4805196"/>
            <a:ext cx="670457" cy="676608"/>
          </a:xfrm>
          <a:custGeom>
            <a:avLst/>
            <a:gdLst/>
            <a:ahLst/>
            <a:cxnLst/>
            <a:rect r="r" b="b" t="t" l="l"/>
            <a:pathLst>
              <a:path h="676608" w="670457">
                <a:moveTo>
                  <a:pt x="0" y="0"/>
                </a:moveTo>
                <a:lnTo>
                  <a:pt x="670458" y="0"/>
                </a:lnTo>
                <a:lnTo>
                  <a:pt x="670458" y="676608"/>
                </a:lnTo>
                <a:lnTo>
                  <a:pt x="0" y="6766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33254" y="7543282"/>
            <a:ext cx="442544" cy="627318"/>
          </a:xfrm>
          <a:custGeom>
            <a:avLst/>
            <a:gdLst/>
            <a:ahLst/>
            <a:cxnLst/>
            <a:rect r="r" b="b" t="t" l="l"/>
            <a:pathLst>
              <a:path h="627318" w="442544">
                <a:moveTo>
                  <a:pt x="0" y="0"/>
                </a:moveTo>
                <a:lnTo>
                  <a:pt x="442544" y="0"/>
                </a:lnTo>
                <a:lnTo>
                  <a:pt x="442544" y="627318"/>
                </a:lnTo>
                <a:lnTo>
                  <a:pt x="0" y="6273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1924" y="3172088"/>
            <a:ext cx="8726275" cy="692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2188" indent="-316094" lvl="1">
              <a:lnSpc>
                <a:spcPts val="4597"/>
              </a:lnSpc>
              <a:buFont typeface="Arial"/>
              <a:buChar char="•"/>
            </a:pPr>
            <a:r>
              <a:rPr lang="en-US" sz="2928" spc="286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Inputs: v (≠1ₙ), tree‐index t∈[1,n–1], dimension n</a:t>
            </a:r>
          </a:p>
          <a:p>
            <a:pPr algn="l" marL="632188" indent="-316094" lvl="1">
              <a:lnSpc>
                <a:spcPts val="4597"/>
              </a:lnSpc>
              <a:buFont typeface="Arial"/>
              <a:buChar char="•"/>
            </a:pPr>
            <a:r>
              <a:rPr lang="en-US" sz="2928" spc="286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Case A: pₙ=n</a:t>
            </a:r>
          </a:p>
          <a:p>
            <a:pPr algn="l" marL="632188" indent="-316094" lvl="1">
              <a:lnSpc>
                <a:spcPts val="4597"/>
              </a:lnSpc>
              <a:buFont typeface="Arial"/>
              <a:buChar char="•"/>
            </a:pPr>
            <a:r>
              <a:rPr lang="en-US" sz="2928" spc="286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If t≠n–1 ⇒ parent=FindPosition(v)</a:t>
            </a:r>
          </a:p>
          <a:p>
            <a:pPr algn="l" marL="632188" indent="-316094" lvl="1">
              <a:lnSpc>
                <a:spcPts val="4597"/>
              </a:lnSpc>
              <a:buFont typeface="Arial"/>
              <a:buChar char="•"/>
            </a:pPr>
            <a:r>
              <a:rPr lang="en-US" sz="2928" spc="286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Else ⇒ parent=Swap(v, </a:t>
            </a:r>
            <a:r>
              <a:rPr lang="en-US" sz="2928" spc="286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pₙ₋₁)</a:t>
            </a:r>
          </a:p>
          <a:p>
            <a:pPr algn="l" marL="632188" indent="-316094" lvl="1">
              <a:lnSpc>
                <a:spcPts val="4597"/>
              </a:lnSpc>
              <a:buFont typeface="Arial"/>
              <a:buChar char="•"/>
            </a:pPr>
            <a:r>
              <a:rPr lang="en-US" sz="2928" spc="286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Case B: pₙ=n–1 &amp; pₙ₋₁=n &amp; </a:t>
            </a:r>
            <a:r>
              <a:rPr lang="en-US" sz="2928" spc="286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Swap(v,n)≠1ₙ</a:t>
            </a:r>
          </a:p>
          <a:p>
            <a:pPr algn="l" marL="632188" indent="-316094" lvl="1">
              <a:lnSpc>
                <a:spcPts val="4597"/>
              </a:lnSpc>
              <a:buFont typeface="Arial"/>
              <a:buChar char="•"/>
            </a:pPr>
            <a:r>
              <a:rPr lang="en-US" sz="2928" spc="286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If t=1 ⇒ Swap(v,n) else Swap(v,t–1)</a:t>
            </a:r>
          </a:p>
          <a:p>
            <a:pPr algn="l" marL="632188" indent="-316094" lvl="1">
              <a:lnSpc>
                <a:spcPts val="4597"/>
              </a:lnSpc>
              <a:buFont typeface="Arial"/>
              <a:buChar char="•"/>
            </a:pPr>
            <a:r>
              <a:rPr lang="en-US" sz="2928" spc="286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Case C: otherwise</a:t>
            </a:r>
          </a:p>
          <a:p>
            <a:pPr algn="l" marL="632188" indent="-316094" lvl="1">
              <a:lnSpc>
                <a:spcPts val="4597"/>
              </a:lnSpc>
              <a:buFont typeface="Arial"/>
              <a:buChar char="•"/>
            </a:pPr>
            <a:r>
              <a:rPr lang="en-US" sz="2928" spc="286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If pₙ=t ⇒ Swap(v,n) else Swap(v,t)</a:t>
            </a:r>
          </a:p>
          <a:p>
            <a:pPr algn="l" marL="632188" indent="-316094" lvl="1">
              <a:lnSpc>
                <a:spcPts val="4597"/>
              </a:lnSpc>
              <a:buFont typeface="Arial"/>
              <a:buChar char="•"/>
            </a:pPr>
            <a:r>
              <a:rPr lang="en-US" sz="2928" spc="286">
                <a:solidFill>
                  <a:srgbClr val="231F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Example: v= 4231, t=1,n=4 ⇒ p₄=1≠4,3 ⇒ Swap(v,1)= 2431</a:t>
            </a:r>
          </a:p>
          <a:p>
            <a:pPr algn="l">
              <a:lnSpc>
                <a:spcPts val="4597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-1009445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6"/>
                </a:lnTo>
                <a:lnTo>
                  <a:pt x="0" y="36087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44287" y="952500"/>
            <a:ext cx="11313622" cy="925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76"/>
              </a:lnSpc>
            </a:pPr>
            <a:r>
              <a:rPr lang="en-US" b="true" sz="5128" spc="502">
                <a:solidFill>
                  <a:srgbClr val="FDFBF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Main Routine Parent1(v, t, n)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318754" y="3677033"/>
            <a:ext cx="8221102" cy="4878142"/>
          </a:xfrm>
          <a:custGeom>
            <a:avLst/>
            <a:gdLst/>
            <a:ahLst/>
            <a:cxnLst/>
            <a:rect r="r" b="b" t="t" l="l"/>
            <a:pathLst>
              <a:path h="4878142" w="8221102">
                <a:moveTo>
                  <a:pt x="0" y="0"/>
                </a:moveTo>
                <a:lnTo>
                  <a:pt x="8221102" y="0"/>
                </a:lnTo>
                <a:lnTo>
                  <a:pt x="8221102" y="4878143"/>
                </a:lnTo>
                <a:lnTo>
                  <a:pt x="0" y="48781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613" t="0" r="-643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340491"/>
            <a:chOff x="0" y="0"/>
            <a:chExt cx="4816593" cy="6164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16426"/>
            </a:xfrm>
            <a:custGeom>
              <a:avLst/>
              <a:gdLst/>
              <a:ahLst/>
              <a:cxnLst/>
              <a:rect r="r" b="b" t="t" l="l"/>
              <a:pathLst>
                <a:path h="61642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16426"/>
                  </a:lnTo>
                  <a:lnTo>
                    <a:pt x="0" y="616426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67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185903" y="598420"/>
            <a:ext cx="9972591" cy="229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b="true" sz="6999" spc="685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Output Table</a:t>
            </a:r>
          </a:p>
          <a:p>
            <a:pPr algn="l">
              <a:lnSpc>
                <a:spcPts val="909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9642260" y="3955439"/>
            <a:ext cx="7539863" cy="848360"/>
            <a:chOff x="0" y="0"/>
            <a:chExt cx="10053151" cy="11311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304800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314169" y="-57150"/>
              <a:ext cx="8738982" cy="118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C</a:t>
              </a:r>
              <a:r>
                <a:rPr lang="en-US" sz="25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olumns: vertex v, tree t, last symbol p₄, rule used, resulting parent p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42260" y="5438101"/>
            <a:ext cx="7539863" cy="414910"/>
            <a:chOff x="0" y="0"/>
            <a:chExt cx="10053151" cy="5532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314169" y="-41317"/>
              <a:ext cx="8738982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Exhau</a:t>
              </a:r>
              <a:r>
                <a:rPr lang="en-US" sz="25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stively lists all 24–1=23 v’s for t=1,2,3 ​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42260" y="6475438"/>
            <a:ext cx="7539863" cy="848360"/>
            <a:chOff x="0" y="0"/>
            <a:chExt cx="10053151" cy="11311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88967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314169" y="-57150"/>
              <a:ext cx="8738982" cy="118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Highl</a:t>
              </a:r>
              <a:r>
                <a:rPr lang="en-US" sz="25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ights: each v maps to exactly one parent per t, following appropriate rule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42260" y="7729500"/>
            <a:ext cx="7539863" cy="848360"/>
            <a:chOff x="0" y="0"/>
            <a:chExt cx="10053151" cy="11311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288967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314169" y="-57150"/>
              <a:ext cx="8738982" cy="118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Specif</a:t>
              </a:r>
              <a:r>
                <a:rPr lang="en-US" sz="25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ic example: v=3214, t=3 ⇒ p₄=4, rule (2) ⇒ Swap(v,3)=3241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0" y="0"/>
            <a:ext cx="18288000" cy="2340491"/>
            <a:chOff x="0" y="0"/>
            <a:chExt cx="24384000" cy="3120655"/>
          </a:xfrm>
        </p:grpSpPr>
        <p:pic>
          <p:nvPicPr>
            <p:cNvPr name="Picture 19" id="19"/>
            <p:cNvPicPr>
              <a:picLocks noChangeAspect="true"/>
            </p:cNvPicPr>
            <p:nvPr/>
          </p:nvPicPr>
          <p:blipFill>
            <a:blip r:embed="rId4">
              <a:alphaModFix amt="14000"/>
            </a:blip>
            <a:srcRect l="0" t="45734" r="0" b="45734"/>
            <a:stretch>
              <a:fillRect/>
            </a:stretch>
          </p:blipFill>
          <p:spPr>
            <a:xfrm flipH="false" flipV="false">
              <a:off x="0" y="0"/>
              <a:ext cx="24384000" cy="3120655"/>
            </a:xfrm>
            <a:prstGeom prst="rect">
              <a:avLst/>
            </a:prstGeom>
          </p:spPr>
        </p:pic>
      </p:grpSp>
      <p:sp>
        <p:nvSpPr>
          <p:cNvPr name="Freeform 20" id="20"/>
          <p:cNvSpPr/>
          <p:nvPr/>
        </p:nvSpPr>
        <p:spPr>
          <a:xfrm flipH="false" flipV="false" rot="0">
            <a:off x="1254230" y="2890770"/>
            <a:ext cx="6047316" cy="6751760"/>
          </a:xfrm>
          <a:custGeom>
            <a:avLst/>
            <a:gdLst/>
            <a:ahLst/>
            <a:cxnLst/>
            <a:rect r="r" b="b" t="t" l="l"/>
            <a:pathLst>
              <a:path h="6751760" w="6047316">
                <a:moveTo>
                  <a:pt x="0" y="0"/>
                </a:moveTo>
                <a:lnTo>
                  <a:pt x="6047315" y="0"/>
                </a:lnTo>
                <a:lnTo>
                  <a:pt x="6047315" y="6751760"/>
                </a:lnTo>
                <a:lnTo>
                  <a:pt x="0" y="6751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1152" t="0" r="-190" b="-4848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7321" y="2160790"/>
            <a:ext cx="11165479" cy="7948041"/>
            <a:chOff x="0" y="0"/>
            <a:chExt cx="2940702" cy="20933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0702" cy="2093311"/>
            </a:xfrm>
            <a:custGeom>
              <a:avLst/>
              <a:gdLst/>
              <a:ahLst/>
              <a:cxnLst/>
              <a:rect r="r" b="b" t="t" l="l"/>
              <a:pathLst>
                <a:path h="2093311" w="2940702">
                  <a:moveTo>
                    <a:pt x="69338" y="0"/>
                  </a:moveTo>
                  <a:lnTo>
                    <a:pt x="2871364" y="0"/>
                  </a:lnTo>
                  <a:cubicBezTo>
                    <a:pt x="2909659" y="0"/>
                    <a:pt x="2940702" y="31044"/>
                    <a:pt x="2940702" y="69338"/>
                  </a:cubicBezTo>
                  <a:lnTo>
                    <a:pt x="2940702" y="2023973"/>
                  </a:lnTo>
                  <a:cubicBezTo>
                    <a:pt x="2940702" y="2062268"/>
                    <a:pt x="2909659" y="2093311"/>
                    <a:pt x="2871364" y="2093311"/>
                  </a:cubicBezTo>
                  <a:lnTo>
                    <a:pt x="69338" y="2093311"/>
                  </a:lnTo>
                  <a:cubicBezTo>
                    <a:pt x="31044" y="2093311"/>
                    <a:pt x="0" y="2062268"/>
                    <a:pt x="0" y="2023973"/>
                  </a:cubicBezTo>
                  <a:lnTo>
                    <a:pt x="0" y="69338"/>
                  </a:lnTo>
                  <a:cubicBezTo>
                    <a:pt x="0" y="31044"/>
                    <a:pt x="31044" y="0"/>
                    <a:pt x="69338" y="0"/>
                  </a:cubicBezTo>
                  <a:close/>
                </a:path>
              </a:pathLst>
            </a:custGeom>
            <a:solidFill>
              <a:srgbClr val="F4F4F4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940702" cy="2236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647692" indent="-323846" lvl="1">
                <a:lnSpc>
                  <a:spcPts val="5039"/>
                </a:lnSpc>
                <a:buFont typeface="Arial"/>
                <a:buChar char="•"/>
              </a:pPr>
              <a:r>
                <a:rPr lang="en-US" b="true" sz="2999" spc="293">
                  <a:solidFill>
                    <a:srgbClr val="153969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PRIOR ALGORITHM:</a:t>
              </a:r>
              <a:r>
                <a:rPr lang="en-US" b="true" sz="2999" spc="293">
                  <a:solidFill>
                    <a:srgbClr val="153969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 </a:t>
              </a:r>
              <a:r>
                <a:rPr lang="en-US" sz="2999" spc="293">
                  <a:solidFill>
                    <a:srgbClr val="153969"/>
                  </a:solidFill>
                  <a:latin typeface="Helios"/>
                  <a:ea typeface="Helios"/>
                  <a:cs typeface="Helios"/>
                  <a:sym typeface="Helios"/>
                </a:rPr>
                <a:t>RECURSIVELY SWAP SYMBOLS UNTIL ROOT REACHED</a:t>
              </a:r>
              <a:r>
                <a:rPr lang="en-US" b="true" sz="2999" spc="293">
                  <a:solidFill>
                    <a:srgbClr val="153969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 ​</a:t>
              </a:r>
            </a:p>
            <a:p>
              <a:pPr algn="l" marL="647692" indent="-323846" lvl="1">
                <a:lnSpc>
                  <a:spcPts val="5039"/>
                </a:lnSpc>
                <a:buFont typeface="Arial"/>
                <a:buChar char="•"/>
              </a:pPr>
              <a:r>
                <a:rPr lang="en-US" b="true" sz="2999" spc="293">
                  <a:solidFill>
                    <a:srgbClr val="153969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PROBLEMS:</a:t>
              </a:r>
            </a:p>
            <a:p>
              <a:pPr algn="l" marL="647692" indent="-323846" lvl="1">
                <a:lnSpc>
                  <a:spcPts val="5039"/>
                </a:lnSpc>
                <a:buFont typeface="Arial"/>
                <a:buChar char="•"/>
              </a:pPr>
              <a:r>
                <a:rPr lang="en-US" sz="2999" spc="293">
                  <a:solidFill>
                    <a:srgbClr val="153969"/>
                  </a:solidFill>
                  <a:latin typeface="Helios"/>
                  <a:ea typeface="Helios"/>
                  <a:cs typeface="Helios"/>
                  <a:sym typeface="Helios"/>
                </a:rPr>
                <a:t>DEEP CALL‐STACK PER VERTEX</a:t>
              </a:r>
            </a:p>
            <a:p>
              <a:pPr algn="l" marL="647692" indent="-323846" lvl="1">
                <a:lnSpc>
                  <a:spcPts val="5039"/>
                </a:lnSpc>
                <a:buFont typeface="Arial"/>
                <a:buChar char="•"/>
              </a:pPr>
              <a:r>
                <a:rPr lang="en-US" sz="2999" spc="293">
                  <a:solidFill>
                    <a:srgbClr val="153969"/>
                  </a:solidFill>
                  <a:latin typeface="Helios"/>
                  <a:ea typeface="Helios"/>
                  <a:cs typeface="Helios"/>
                  <a:sym typeface="Helios"/>
                </a:rPr>
                <a:t>SEQUENTIAL: CAN’T COMPUTE PARENT FOR TREE T UNTIL LOWER‐LEVEL CALLS FINISH</a:t>
              </a:r>
            </a:p>
            <a:p>
              <a:pPr algn="l" marL="647692" indent="-323846" lvl="1">
                <a:lnSpc>
                  <a:spcPts val="5039"/>
                </a:lnSpc>
                <a:buFont typeface="Arial"/>
                <a:buChar char="•"/>
              </a:pPr>
              <a:r>
                <a:rPr lang="en-US" sz="2999" spc="293">
                  <a:solidFill>
                    <a:srgbClr val="153969"/>
                  </a:solidFill>
                  <a:latin typeface="Helios"/>
                  <a:ea typeface="Helios"/>
                  <a:cs typeface="Helios"/>
                  <a:sym typeface="Helios"/>
                </a:rPr>
                <a:t>HARD TO DISTRIBUTE WORK ACROSS PROCESSORS</a:t>
              </a:r>
            </a:p>
            <a:p>
              <a:pPr algn="l">
                <a:lnSpc>
                  <a:spcPts val="50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432737" y="0"/>
            <a:ext cx="9144000" cy="10295868"/>
            <a:chOff x="0" y="0"/>
            <a:chExt cx="2408296" cy="27116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08296" cy="2711669"/>
            </a:xfrm>
            <a:custGeom>
              <a:avLst/>
              <a:gdLst/>
              <a:ahLst/>
              <a:cxnLst/>
              <a:rect r="r" b="b" t="t" l="l"/>
              <a:pathLst>
                <a:path h="2711669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11669"/>
                  </a:lnTo>
                  <a:lnTo>
                    <a:pt x="0" y="271166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08296" cy="2749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586133" y="289907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7043" y="230731"/>
            <a:ext cx="9201763" cy="2832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0"/>
              </a:lnSpc>
            </a:pPr>
            <a:r>
              <a:rPr lang="en-US" sz="5746" spc="563" b="true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Rec</a:t>
            </a:r>
            <a:r>
              <a:rPr lang="en-US" b="true" sz="5746" spc="563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ursive Approach</a:t>
            </a:r>
          </a:p>
          <a:p>
            <a:pPr algn="l">
              <a:lnSpc>
                <a:spcPts val="7470"/>
              </a:lnSpc>
            </a:pPr>
            <a:r>
              <a:rPr lang="en-US" b="true" sz="5746" spc="563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Issues</a:t>
            </a:r>
          </a:p>
          <a:p>
            <a:pPr algn="l">
              <a:lnSpc>
                <a:spcPts val="747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59653" y="3758844"/>
            <a:ext cx="2531565" cy="2531565"/>
          </a:xfrm>
          <a:custGeom>
            <a:avLst/>
            <a:gdLst/>
            <a:ahLst/>
            <a:cxnLst/>
            <a:rect r="r" b="b" t="t" l="l"/>
            <a:pathLst>
              <a:path h="2531565" w="2531565">
                <a:moveTo>
                  <a:pt x="0" y="0"/>
                </a:moveTo>
                <a:lnTo>
                  <a:pt x="2531565" y="0"/>
                </a:lnTo>
                <a:lnTo>
                  <a:pt x="2531565" y="2531565"/>
                </a:lnTo>
                <a:lnTo>
                  <a:pt x="0" y="2531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6291218" y="5024626"/>
            <a:ext cx="1586999" cy="0"/>
          </a:xfrm>
          <a:prstGeom prst="line">
            <a:avLst/>
          </a:prstGeom>
          <a:ln cap="flat" w="38100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878217" y="3758844"/>
            <a:ext cx="2531565" cy="2531565"/>
          </a:xfrm>
          <a:custGeom>
            <a:avLst/>
            <a:gdLst/>
            <a:ahLst/>
            <a:cxnLst/>
            <a:rect r="r" b="b" t="t" l="l"/>
            <a:pathLst>
              <a:path h="2531565" w="2531565">
                <a:moveTo>
                  <a:pt x="0" y="0"/>
                </a:moveTo>
                <a:lnTo>
                  <a:pt x="2531566" y="0"/>
                </a:lnTo>
                <a:lnTo>
                  <a:pt x="2531566" y="2531565"/>
                </a:lnTo>
                <a:lnTo>
                  <a:pt x="0" y="2531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409783" y="5024626"/>
            <a:ext cx="1586999" cy="0"/>
          </a:xfrm>
          <a:prstGeom prst="line">
            <a:avLst/>
          </a:prstGeom>
          <a:ln cap="flat" w="38100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996782" y="3758844"/>
            <a:ext cx="2531565" cy="2531565"/>
          </a:xfrm>
          <a:custGeom>
            <a:avLst/>
            <a:gdLst/>
            <a:ahLst/>
            <a:cxnLst/>
            <a:rect r="r" b="b" t="t" l="l"/>
            <a:pathLst>
              <a:path h="2531565" w="2531565">
                <a:moveTo>
                  <a:pt x="0" y="0"/>
                </a:moveTo>
                <a:lnTo>
                  <a:pt x="2531565" y="0"/>
                </a:lnTo>
                <a:lnTo>
                  <a:pt x="2531565" y="2531565"/>
                </a:lnTo>
                <a:lnTo>
                  <a:pt x="0" y="2531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9125919"/>
            <a:ext cx="18288000" cy="1161081"/>
            <a:chOff x="0" y="0"/>
            <a:chExt cx="4816593" cy="3057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6592" cy="305799"/>
            </a:xfrm>
            <a:custGeom>
              <a:avLst/>
              <a:gdLst/>
              <a:ahLst/>
              <a:cxnLst/>
              <a:rect r="r" b="b" t="t" l="l"/>
              <a:pathLst>
                <a:path h="30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05799"/>
                  </a:lnTo>
                  <a:lnTo>
                    <a:pt x="0" y="30579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816593" cy="34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422889" y="4522869"/>
            <a:ext cx="1205093" cy="1003514"/>
          </a:xfrm>
          <a:custGeom>
            <a:avLst/>
            <a:gdLst/>
            <a:ahLst/>
            <a:cxnLst/>
            <a:rect r="r" b="b" t="t" l="l"/>
            <a:pathLst>
              <a:path h="1003514" w="1205093">
                <a:moveTo>
                  <a:pt x="0" y="0"/>
                </a:moveTo>
                <a:lnTo>
                  <a:pt x="1205093" y="0"/>
                </a:lnTo>
                <a:lnTo>
                  <a:pt x="1205093" y="1003514"/>
                </a:lnTo>
                <a:lnTo>
                  <a:pt x="0" y="1003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530182" y="4522869"/>
            <a:ext cx="1586999" cy="937387"/>
          </a:xfrm>
          <a:custGeom>
            <a:avLst/>
            <a:gdLst/>
            <a:ahLst/>
            <a:cxnLst/>
            <a:rect r="r" b="b" t="t" l="l"/>
            <a:pathLst>
              <a:path h="937387" w="1586999">
                <a:moveTo>
                  <a:pt x="0" y="0"/>
                </a:moveTo>
                <a:lnTo>
                  <a:pt x="1586998" y="0"/>
                </a:lnTo>
                <a:lnTo>
                  <a:pt x="1586998" y="937388"/>
                </a:lnTo>
                <a:lnTo>
                  <a:pt x="0" y="9373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871740" y="4538447"/>
            <a:ext cx="544521" cy="972359"/>
          </a:xfrm>
          <a:custGeom>
            <a:avLst/>
            <a:gdLst/>
            <a:ahLst/>
            <a:cxnLst/>
            <a:rect r="r" b="b" t="t" l="l"/>
            <a:pathLst>
              <a:path h="972359" w="544521">
                <a:moveTo>
                  <a:pt x="0" y="0"/>
                </a:moveTo>
                <a:lnTo>
                  <a:pt x="544520" y="0"/>
                </a:lnTo>
                <a:lnTo>
                  <a:pt x="544520" y="972359"/>
                </a:lnTo>
                <a:lnTo>
                  <a:pt x="0" y="9723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619223" y="950912"/>
            <a:ext cx="13049553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999">
                <a:solidFill>
                  <a:srgbClr val="153969"/>
                </a:solidFill>
                <a:latin typeface="Klein Bold"/>
                <a:ea typeface="Klein Bold"/>
                <a:cs typeface="Klein Bold"/>
                <a:sym typeface="Klein Bold"/>
              </a:rPr>
              <a:t>Sequential Implementation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87982" y="6539436"/>
            <a:ext cx="3874907" cy="1824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P</a:t>
            </a:r>
            <a:r>
              <a:rPr lang="en-US" sz="2599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re‑process each v in O(n)</a:t>
            </a:r>
          </a:p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u="none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Step 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06546" y="6386846"/>
            <a:ext cx="3660948" cy="2159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39"/>
              </a:lnSpc>
              <a:spcBef>
                <a:spcPct val="0"/>
              </a:spcBef>
            </a:pPr>
            <a:r>
              <a:rPr lang="en-US" sz="2456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Follow Pa</a:t>
            </a:r>
            <a:r>
              <a:rPr lang="en-US" sz="2456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rent1 sequentially along path: up to O(n²) swaps per tree</a:t>
            </a:r>
          </a:p>
          <a:p>
            <a:pPr algn="ctr" marL="0" indent="0" lvl="0">
              <a:lnSpc>
                <a:spcPts val="3439"/>
              </a:lnSpc>
              <a:spcBef>
                <a:spcPct val="0"/>
              </a:spcBef>
            </a:pPr>
            <a:r>
              <a:rPr lang="en-US" b="true" sz="2456" u="none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Step 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25110" y="6539436"/>
            <a:ext cx="3874907" cy="1824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Bu</a:t>
            </a:r>
            <a:r>
              <a:rPr lang="en-US" sz="2599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ild each of n–1 trees one after another</a:t>
            </a:r>
          </a:p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u="none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Step 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60399" y="9541677"/>
            <a:ext cx="2767201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Back to Agenda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125919"/>
            <a:ext cx="18288000" cy="1161081"/>
            <a:chOff x="0" y="0"/>
            <a:chExt cx="4816593" cy="30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05799"/>
            </a:xfrm>
            <a:custGeom>
              <a:avLst/>
              <a:gdLst/>
              <a:ahLst/>
              <a:cxnLst/>
              <a:rect r="r" b="b" t="t" l="l"/>
              <a:pathLst>
                <a:path h="30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05799"/>
                  </a:lnTo>
                  <a:lnTo>
                    <a:pt x="0" y="30579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4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760399" y="9541677"/>
            <a:ext cx="2767201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Back to 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806062" y="2848424"/>
            <a:ext cx="3291994" cy="3445735"/>
            <a:chOff x="0" y="0"/>
            <a:chExt cx="1207442" cy="12638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7442" cy="1263832"/>
            </a:xfrm>
            <a:custGeom>
              <a:avLst/>
              <a:gdLst/>
              <a:ahLst/>
              <a:cxnLst/>
              <a:rect r="r" b="b" t="t" l="l"/>
              <a:pathLst>
                <a:path h="1263832" w="1207442">
                  <a:moveTo>
                    <a:pt x="72904" y="0"/>
                  </a:moveTo>
                  <a:lnTo>
                    <a:pt x="1134538" y="0"/>
                  </a:lnTo>
                  <a:cubicBezTo>
                    <a:pt x="1174802" y="0"/>
                    <a:pt x="1207442" y="32640"/>
                    <a:pt x="1207442" y="72904"/>
                  </a:cubicBezTo>
                  <a:lnTo>
                    <a:pt x="1207442" y="1190928"/>
                  </a:lnTo>
                  <a:cubicBezTo>
                    <a:pt x="1207442" y="1231191"/>
                    <a:pt x="1174802" y="1263832"/>
                    <a:pt x="1134538" y="1263832"/>
                  </a:cubicBezTo>
                  <a:lnTo>
                    <a:pt x="72904" y="1263832"/>
                  </a:lnTo>
                  <a:cubicBezTo>
                    <a:pt x="32640" y="1263832"/>
                    <a:pt x="0" y="1231191"/>
                    <a:pt x="0" y="1190928"/>
                  </a:cubicBezTo>
                  <a:lnTo>
                    <a:pt x="0" y="72904"/>
                  </a:lnTo>
                  <a:cubicBezTo>
                    <a:pt x="0" y="32640"/>
                    <a:pt x="32640" y="0"/>
                    <a:pt x="72904" y="0"/>
                  </a:cubicBezTo>
                  <a:close/>
                </a:path>
              </a:pathLst>
            </a:custGeom>
            <a:solidFill>
              <a:srgbClr val="FFFFFF">
                <a:alpha val="9882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207442" cy="1282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06062" y="6087569"/>
            <a:ext cx="3288945" cy="1270090"/>
            <a:chOff x="0" y="0"/>
            <a:chExt cx="1206324" cy="4658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06324" cy="465845"/>
            </a:xfrm>
            <a:custGeom>
              <a:avLst/>
              <a:gdLst/>
              <a:ahLst/>
              <a:cxnLst/>
              <a:rect r="r" b="b" t="t" l="l"/>
              <a:pathLst>
                <a:path h="465845" w="1206324">
                  <a:moveTo>
                    <a:pt x="72972" y="0"/>
                  </a:moveTo>
                  <a:lnTo>
                    <a:pt x="1133352" y="0"/>
                  </a:lnTo>
                  <a:cubicBezTo>
                    <a:pt x="1152706" y="0"/>
                    <a:pt x="1171266" y="7688"/>
                    <a:pt x="1184951" y="21373"/>
                  </a:cubicBezTo>
                  <a:cubicBezTo>
                    <a:pt x="1198636" y="35058"/>
                    <a:pt x="1206324" y="53618"/>
                    <a:pt x="1206324" y="72972"/>
                  </a:cubicBezTo>
                  <a:lnTo>
                    <a:pt x="1206324" y="392874"/>
                  </a:lnTo>
                  <a:cubicBezTo>
                    <a:pt x="1206324" y="412227"/>
                    <a:pt x="1198636" y="430788"/>
                    <a:pt x="1184951" y="444473"/>
                  </a:cubicBezTo>
                  <a:cubicBezTo>
                    <a:pt x="1171266" y="458157"/>
                    <a:pt x="1152706" y="465845"/>
                    <a:pt x="1133352" y="465845"/>
                  </a:cubicBezTo>
                  <a:lnTo>
                    <a:pt x="72972" y="465845"/>
                  </a:lnTo>
                  <a:cubicBezTo>
                    <a:pt x="53618" y="465845"/>
                    <a:pt x="35058" y="458157"/>
                    <a:pt x="21373" y="444473"/>
                  </a:cubicBezTo>
                  <a:cubicBezTo>
                    <a:pt x="7688" y="430788"/>
                    <a:pt x="0" y="412227"/>
                    <a:pt x="0" y="392874"/>
                  </a:cubicBezTo>
                  <a:lnTo>
                    <a:pt x="0" y="72972"/>
                  </a:lnTo>
                  <a:cubicBezTo>
                    <a:pt x="0" y="53618"/>
                    <a:pt x="7688" y="35058"/>
                    <a:pt x="21373" y="21373"/>
                  </a:cubicBezTo>
                  <a:cubicBezTo>
                    <a:pt x="35058" y="7688"/>
                    <a:pt x="53618" y="0"/>
                    <a:pt x="72972" y="0"/>
                  </a:cubicBezTo>
                  <a:close/>
                </a:path>
              </a:pathLst>
            </a:custGeom>
            <a:solidFill>
              <a:srgbClr val="FFFFFF">
                <a:alpha val="98824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206324" cy="48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85189" y="4114000"/>
            <a:ext cx="3260727" cy="3367566"/>
            <a:chOff x="0" y="0"/>
            <a:chExt cx="1195974" cy="12351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95974" cy="1235161"/>
            </a:xfrm>
            <a:custGeom>
              <a:avLst/>
              <a:gdLst/>
              <a:ahLst/>
              <a:cxnLst/>
              <a:rect r="r" b="b" t="t" l="l"/>
              <a:pathLst>
                <a:path h="1235161" w="1195974">
                  <a:moveTo>
                    <a:pt x="73603" y="0"/>
                  </a:moveTo>
                  <a:lnTo>
                    <a:pt x="1122371" y="0"/>
                  </a:lnTo>
                  <a:cubicBezTo>
                    <a:pt x="1141892" y="0"/>
                    <a:pt x="1160613" y="7755"/>
                    <a:pt x="1174416" y="21558"/>
                  </a:cubicBezTo>
                  <a:cubicBezTo>
                    <a:pt x="1188219" y="35361"/>
                    <a:pt x="1195974" y="54082"/>
                    <a:pt x="1195974" y="73603"/>
                  </a:cubicBezTo>
                  <a:lnTo>
                    <a:pt x="1195974" y="1161557"/>
                  </a:lnTo>
                  <a:cubicBezTo>
                    <a:pt x="1195974" y="1181078"/>
                    <a:pt x="1188219" y="1199799"/>
                    <a:pt x="1174416" y="1213603"/>
                  </a:cubicBezTo>
                  <a:cubicBezTo>
                    <a:pt x="1160613" y="1227406"/>
                    <a:pt x="1141892" y="1235161"/>
                    <a:pt x="1122371" y="1235161"/>
                  </a:cubicBezTo>
                  <a:lnTo>
                    <a:pt x="73603" y="1235161"/>
                  </a:lnTo>
                  <a:cubicBezTo>
                    <a:pt x="54082" y="1235161"/>
                    <a:pt x="35361" y="1227406"/>
                    <a:pt x="21558" y="1213603"/>
                  </a:cubicBezTo>
                  <a:cubicBezTo>
                    <a:pt x="7755" y="1199799"/>
                    <a:pt x="0" y="1181078"/>
                    <a:pt x="0" y="1161557"/>
                  </a:cubicBezTo>
                  <a:lnTo>
                    <a:pt x="0" y="73603"/>
                  </a:lnTo>
                  <a:cubicBezTo>
                    <a:pt x="0" y="54082"/>
                    <a:pt x="7755" y="35361"/>
                    <a:pt x="21558" y="21558"/>
                  </a:cubicBezTo>
                  <a:cubicBezTo>
                    <a:pt x="35361" y="7755"/>
                    <a:pt x="54082" y="0"/>
                    <a:pt x="73603" y="0"/>
                  </a:cubicBezTo>
                  <a:close/>
                </a:path>
              </a:pathLst>
            </a:custGeom>
            <a:solidFill>
              <a:srgbClr val="FFFFFF">
                <a:alpha val="98824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195974" cy="1254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51820" y="2574744"/>
            <a:ext cx="2932415" cy="3369511"/>
            <a:chOff x="0" y="0"/>
            <a:chExt cx="1075555" cy="12358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5555" cy="1235874"/>
            </a:xfrm>
            <a:custGeom>
              <a:avLst/>
              <a:gdLst/>
              <a:ahLst/>
              <a:cxnLst/>
              <a:rect r="r" b="b" t="t" l="l"/>
              <a:pathLst>
                <a:path h="1235874" w="1075555">
                  <a:moveTo>
                    <a:pt x="81844" y="0"/>
                  </a:moveTo>
                  <a:lnTo>
                    <a:pt x="993712" y="0"/>
                  </a:lnTo>
                  <a:cubicBezTo>
                    <a:pt x="1015418" y="0"/>
                    <a:pt x="1036235" y="8623"/>
                    <a:pt x="1051584" y="23971"/>
                  </a:cubicBezTo>
                  <a:cubicBezTo>
                    <a:pt x="1066932" y="39320"/>
                    <a:pt x="1075555" y="60137"/>
                    <a:pt x="1075555" y="81844"/>
                  </a:cubicBezTo>
                  <a:lnTo>
                    <a:pt x="1075555" y="1154031"/>
                  </a:lnTo>
                  <a:cubicBezTo>
                    <a:pt x="1075555" y="1175737"/>
                    <a:pt x="1066932" y="1196554"/>
                    <a:pt x="1051584" y="1211903"/>
                  </a:cubicBezTo>
                  <a:cubicBezTo>
                    <a:pt x="1036235" y="1227251"/>
                    <a:pt x="1015418" y="1235874"/>
                    <a:pt x="993712" y="1235874"/>
                  </a:cubicBezTo>
                  <a:lnTo>
                    <a:pt x="81844" y="1235874"/>
                  </a:lnTo>
                  <a:cubicBezTo>
                    <a:pt x="36643" y="1235874"/>
                    <a:pt x="0" y="1199232"/>
                    <a:pt x="0" y="1154031"/>
                  </a:cubicBezTo>
                  <a:lnTo>
                    <a:pt x="0" y="81844"/>
                  </a:lnTo>
                  <a:cubicBezTo>
                    <a:pt x="0" y="60137"/>
                    <a:pt x="8623" y="39320"/>
                    <a:pt x="23971" y="23971"/>
                  </a:cubicBezTo>
                  <a:cubicBezTo>
                    <a:pt x="39320" y="8623"/>
                    <a:pt x="60137" y="0"/>
                    <a:pt x="81844" y="0"/>
                  </a:cubicBezTo>
                  <a:close/>
                </a:path>
              </a:pathLst>
            </a:custGeom>
            <a:solidFill>
              <a:srgbClr val="FFFFFF">
                <a:alpha val="98824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75555" cy="1254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151820" y="5944256"/>
            <a:ext cx="2932415" cy="1128695"/>
            <a:chOff x="0" y="0"/>
            <a:chExt cx="1075555" cy="4139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5555" cy="413984"/>
            </a:xfrm>
            <a:custGeom>
              <a:avLst/>
              <a:gdLst/>
              <a:ahLst/>
              <a:cxnLst/>
              <a:rect r="r" b="b" t="t" l="l"/>
              <a:pathLst>
                <a:path h="413984" w="1075555">
                  <a:moveTo>
                    <a:pt x="81844" y="0"/>
                  </a:moveTo>
                  <a:lnTo>
                    <a:pt x="993712" y="0"/>
                  </a:lnTo>
                  <a:cubicBezTo>
                    <a:pt x="1015418" y="0"/>
                    <a:pt x="1036235" y="8623"/>
                    <a:pt x="1051584" y="23971"/>
                  </a:cubicBezTo>
                  <a:cubicBezTo>
                    <a:pt x="1066932" y="39320"/>
                    <a:pt x="1075555" y="60137"/>
                    <a:pt x="1075555" y="81844"/>
                  </a:cubicBezTo>
                  <a:lnTo>
                    <a:pt x="1075555" y="332141"/>
                  </a:lnTo>
                  <a:cubicBezTo>
                    <a:pt x="1075555" y="377342"/>
                    <a:pt x="1038913" y="413984"/>
                    <a:pt x="993712" y="413984"/>
                  </a:cubicBezTo>
                  <a:lnTo>
                    <a:pt x="81844" y="413984"/>
                  </a:lnTo>
                  <a:cubicBezTo>
                    <a:pt x="60137" y="413984"/>
                    <a:pt x="39320" y="405361"/>
                    <a:pt x="23971" y="390013"/>
                  </a:cubicBezTo>
                  <a:cubicBezTo>
                    <a:pt x="8623" y="374664"/>
                    <a:pt x="0" y="353847"/>
                    <a:pt x="0" y="332141"/>
                  </a:cubicBezTo>
                  <a:lnTo>
                    <a:pt x="0" y="81844"/>
                  </a:lnTo>
                  <a:cubicBezTo>
                    <a:pt x="0" y="60137"/>
                    <a:pt x="8623" y="39320"/>
                    <a:pt x="23971" y="23971"/>
                  </a:cubicBezTo>
                  <a:cubicBezTo>
                    <a:pt x="39320" y="8623"/>
                    <a:pt x="60137" y="0"/>
                    <a:pt x="81844" y="0"/>
                  </a:cubicBezTo>
                  <a:close/>
                </a:path>
              </a:pathLst>
            </a:custGeom>
            <a:solidFill>
              <a:srgbClr val="FFFFFF">
                <a:alpha val="98824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075555" cy="433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099999" y="523799"/>
            <a:ext cx="13281586" cy="111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14"/>
              </a:lnSpc>
              <a:spcBef>
                <a:spcPct val="0"/>
              </a:spcBef>
            </a:pPr>
            <a:r>
              <a:rPr lang="en-US" b="true" sz="6532" spc="640">
                <a:solidFill>
                  <a:srgbClr val="153969"/>
                </a:solidFill>
                <a:latin typeface="Oswald Bold"/>
                <a:ea typeface="Oswald Bold"/>
                <a:cs typeface="Oswald Bold"/>
                <a:sym typeface="Oswald Bold"/>
              </a:rPr>
              <a:t>COMPLEXITY ANALYSIS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06062" y="6124431"/>
            <a:ext cx="3288945" cy="1017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20"/>
              </a:lnSpc>
              <a:spcBef>
                <a:spcPct val="0"/>
              </a:spcBef>
            </a:pPr>
            <a:r>
              <a:rPr lang="en-US" sz="2985" spc="292">
                <a:solidFill>
                  <a:srgbClr val="226699"/>
                </a:solidFill>
                <a:latin typeface="Oswald"/>
                <a:ea typeface="Oswald"/>
                <a:cs typeface="Oswald"/>
                <a:sym typeface="Oswald"/>
              </a:rPr>
              <a:t>RECURSIVE METHOD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74754" y="3037992"/>
            <a:ext cx="3120252" cy="236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2"/>
              </a:lnSpc>
            </a:pPr>
            <a:r>
              <a:rPr lang="en-US" sz="2715">
                <a:solidFill>
                  <a:srgbClr val="100F0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Amortized O(1) per parent lookup, but sequential path length ≈D(Bₙ)=O(n²)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48358" y="4274163"/>
            <a:ext cx="2534389" cy="1856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38"/>
              </a:lnSpc>
              <a:spcBef>
                <a:spcPct val="0"/>
              </a:spcBef>
            </a:pPr>
            <a:r>
              <a:rPr lang="en-US" sz="2670">
                <a:solidFill>
                  <a:srgbClr val="100F0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O(</a:t>
            </a:r>
            <a:r>
              <a:rPr lang="en-US" sz="2670" strike="noStrike" u="none">
                <a:solidFill>
                  <a:srgbClr val="100F0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n²·n!) across all t due to sequential steps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56875" y="2990949"/>
            <a:ext cx="2722305" cy="2416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34"/>
              </a:lnSpc>
              <a:spcBef>
                <a:spcPct val="0"/>
              </a:spcBef>
            </a:pPr>
            <a:r>
              <a:rPr lang="en-US" sz="2738">
                <a:solidFill>
                  <a:srgbClr val="100F0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</a:t>
            </a:r>
            <a:r>
              <a:rPr lang="en-US" sz="2738" strike="noStrike" u="none">
                <a:solidFill>
                  <a:srgbClr val="100F0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liminate path dependency → achieve per‐vertex O(1) for all t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437589" y="4266400"/>
            <a:ext cx="3260727" cy="3367566"/>
            <a:chOff x="0" y="0"/>
            <a:chExt cx="1195974" cy="123516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95974" cy="1235161"/>
            </a:xfrm>
            <a:custGeom>
              <a:avLst/>
              <a:gdLst/>
              <a:ahLst/>
              <a:cxnLst/>
              <a:rect r="r" b="b" t="t" l="l"/>
              <a:pathLst>
                <a:path h="1235161" w="1195974">
                  <a:moveTo>
                    <a:pt x="73603" y="0"/>
                  </a:moveTo>
                  <a:lnTo>
                    <a:pt x="1122371" y="0"/>
                  </a:lnTo>
                  <a:cubicBezTo>
                    <a:pt x="1141892" y="0"/>
                    <a:pt x="1160613" y="7755"/>
                    <a:pt x="1174416" y="21558"/>
                  </a:cubicBezTo>
                  <a:cubicBezTo>
                    <a:pt x="1188219" y="35361"/>
                    <a:pt x="1195974" y="54082"/>
                    <a:pt x="1195974" y="73603"/>
                  </a:cubicBezTo>
                  <a:lnTo>
                    <a:pt x="1195974" y="1161557"/>
                  </a:lnTo>
                  <a:cubicBezTo>
                    <a:pt x="1195974" y="1181078"/>
                    <a:pt x="1188219" y="1199799"/>
                    <a:pt x="1174416" y="1213603"/>
                  </a:cubicBezTo>
                  <a:cubicBezTo>
                    <a:pt x="1160613" y="1227406"/>
                    <a:pt x="1141892" y="1235161"/>
                    <a:pt x="1122371" y="1235161"/>
                  </a:cubicBezTo>
                  <a:lnTo>
                    <a:pt x="73603" y="1235161"/>
                  </a:lnTo>
                  <a:cubicBezTo>
                    <a:pt x="54082" y="1235161"/>
                    <a:pt x="35361" y="1227406"/>
                    <a:pt x="21558" y="1213603"/>
                  </a:cubicBezTo>
                  <a:cubicBezTo>
                    <a:pt x="7755" y="1199799"/>
                    <a:pt x="0" y="1181078"/>
                    <a:pt x="0" y="1161557"/>
                  </a:cubicBezTo>
                  <a:lnTo>
                    <a:pt x="0" y="73603"/>
                  </a:lnTo>
                  <a:cubicBezTo>
                    <a:pt x="0" y="54082"/>
                    <a:pt x="7755" y="35361"/>
                    <a:pt x="21558" y="21558"/>
                  </a:cubicBezTo>
                  <a:cubicBezTo>
                    <a:pt x="35361" y="7755"/>
                    <a:pt x="54082" y="0"/>
                    <a:pt x="73603" y="0"/>
                  </a:cubicBezTo>
                  <a:close/>
                </a:path>
              </a:pathLst>
            </a:custGeom>
            <a:solidFill>
              <a:srgbClr val="FFFFFF">
                <a:alpha val="98824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95974" cy="1254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437589" y="7633966"/>
            <a:ext cx="3260727" cy="1065986"/>
            <a:chOff x="0" y="0"/>
            <a:chExt cx="1195974" cy="3909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95974" cy="390984"/>
            </a:xfrm>
            <a:custGeom>
              <a:avLst/>
              <a:gdLst/>
              <a:ahLst/>
              <a:cxnLst/>
              <a:rect r="r" b="b" t="t" l="l"/>
              <a:pathLst>
                <a:path h="390984" w="1195974">
                  <a:moveTo>
                    <a:pt x="73603" y="0"/>
                  </a:moveTo>
                  <a:lnTo>
                    <a:pt x="1122371" y="0"/>
                  </a:lnTo>
                  <a:cubicBezTo>
                    <a:pt x="1141892" y="0"/>
                    <a:pt x="1160613" y="7755"/>
                    <a:pt x="1174416" y="21558"/>
                  </a:cubicBezTo>
                  <a:cubicBezTo>
                    <a:pt x="1188219" y="35361"/>
                    <a:pt x="1195974" y="54082"/>
                    <a:pt x="1195974" y="73603"/>
                  </a:cubicBezTo>
                  <a:lnTo>
                    <a:pt x="1195974" y="317381"/>
                  </a:lnTo>
                  <a:cubicBezTo>
                    <a:pt x="1195974" y="336901"/>
                    <a:pt x="1188219" y="355623"/>
                    <a:pt x="1174416" y="369426"/>
                  </a:cubicBezTo>
                  <a:cubicBezTo>
                    <a:pt x="1160613" y="383229"/>
                    <a:pt x="1141892" y="390984"/>
                    <a:pt x="1122371" y="390984"/>
                  </a:cubicBezTo>
                  <a:lnTo>
                    <a:pt x="73603" y="390984"/>
                  </a:lnTo>
                  <a:cubicBezTo>
                    <a:pt x="54082" y="390984"/>
                    <a:pt x="35361" y="383229"/>
                    <a:pt x="21558" y="369426"/>
                  </a:cubicBezTo>
                  <a:cubicBezTo>
                    <a:pt x="7755" y="355623"/>
                    <a:pt x="0" y="336901"/>
                    <a:pt x="0" y="317381"/>
                  </a:cubicBezTo>
                  <a:lnTo>
                    <a:pt x="0" y="73603"/>
                  </a:lnTo>
                  <a:cubicBezTo>
                    <a:pt x="0" y="54082"/>
                    <a:pt x="7755" y="35361"/>
                    <a:pt x="21558" y="21558"/>
                  </a:cubicBezTo>
                  <a:cubicBezTo>
                    <a:pt x="35361" y="7755"/>
                    <a:pt x="54082" y="0"/>
                    <a:pt x="73603" y="0"/>
                  </a:cubicBezTo>
                  <a:close/>
                </a:path>
              </a:pathLst>
            </a:custGeom>
            <a:solidFill>
              <a:srgbClr val="FFFFFF">
                <a:alpha val="98824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195974" cy="410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304220" y="6096656"/>
            <a:ext cx="2932415" cy="1128695"/>
            <a:chOff x="0" y="0"/>
            <a:chExt cx="1075555" cy="4139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5555" cy="413984"/>
            </a:xfrm>
            <a:custGeom>
              <a:avLst/>
              <a:gdLst/>
              <a:ahLst/>
              <a:cxnLst/>
              <a:rect r="r" b="b" t="t" l="l"/>
              <a:pathLst>
                <a:path h="413984" w="1075555">
                  <a:moveTo>
                    <a:pt x="81844" y="0"/>
                  </a:moveTo>
                  <a:lnTo>
                    <a:pt x="993712" y="0"/>
                  </a:lnTo>
                  <a:cubicBezTo>
                    <a:pt x="1015418" y="0"/>
                    <a:pt x="1036235" y="8623"/>
                    <a:pt x="1051584" y="23971"/>
                  </a:cubicBezTo>
                  <a:cubicBezTo>
                    <a:pt x="1066932" y="39320"/>
                    <a:pt x="1075555" y="60137"/>
                    <a:pt x="1075555" y="81844"/>
                  </a:cubicBezTo>
                  <a:lnTo>
                    <a:pt x="1075555" y="332141"/>
                  </a:lnTo>
                  <a:cubicBezTo>
                    <a:pt x="1075555" y="377342"/>
                    <a:pt x="1038913" y="413984"/>
                    <a:pt x="993712" y="413984"/>
                  </a:cubicBezTo>
                  <a:lnTo>
                    <a:pt x="81844" y="413984"/>
                  </a:lnTo>
                  <a:cubicBezTo>
                    <a:pt x="60137" y="413984"/>
                    <a:pt x="39320" y="405361"/>
                    <a:pt x="23971" y="390013"/>
                  </a:cubicBezTo>
                  <a:cubicBezTo>
                    <a:pt x="8623" y="374664"/>
                    <a:pt x="0" y="353847"/>
                    <a:pt x="0" y="332141"/>
                  </a:cubicBezTo>
                  <a:lnTo>
                    <a:pt x="0" y="81844"/>
                  </a:lnTo>
                  <a:cubicBezTo>
                    <a:pt x="0" y="60137"/>
                    <a:pt x="8623" y="39320"/>
                    <a:pt x="23971" y="23971"/>
                  </a:cubicBezTo>
                  <a:cubicBezTo>
                    <a:pt x="39320" y="8623"/>
                    <a:pt x="60137" y="0"/>
                    <a:pt x="81844" y="0"/>
                  </a:cubicBezTo>
                  <a:close/>
                </a:path>
              </a:pathLst>
            </a:custGeom>
            <a:solidFill>
              <a:srgbClr val="FFFFFF">
                <a:alpha val="98824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075555" cy="433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648358" y="6158172"/>
            <a:ext cx="2617318" cy="459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25"/>
              </a:lnSpc>
              <a:spcBef>
                <a:spcPct val="0"/>
              </a:spcBef>
            </a:pPr>
            <a:r>
              <a:rPr lang="en-US" sz="2772" spc="271">
                <a:solidFill>
                  <a:srgbClr val="226699"/>
                </a:solidFill>
                <a:latin typeface="Oswald"/>
                <a:ea typeface="Oswald"/>
                <a:cs typeface="Oswald"/>
                <a:sym typeface="Oswald"/>
              </a:rPr>
              <a:t>TOTAL WORK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14330" y="6139122"/>
            <a:ext cx="2556583" cy="105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39"/>
              </a:lnSpc>
              <a:spcBef>
                <a:spcPct val="0"/>
              </a:spcBef>
            </a:pPr>
            <a:r>
              <a:rPr lang="en-US" sz="3072" spc="301">
                <a:solidFill>
                  <a:srgbClr val="226699"/>
                </a:solidFill>
                <a:latin typeface="Oswald"/>
                <a:ea typeface="Oswald"/>
                <a:cs typeface="Oswald"/>
                <a:sym typeface="Oswald"/>
              </a:rPr>
              <a:t>PAR</a:t>
            </a:r>
            <a:r>
              <a:rPr lang="en-US" sz="3072" spc="301" strike="noStrike" u="none">
                <a:solidFill>
                  <a:srgbClr val="226699"/>
                </a:solidFill>
                <a:latin typeface="Oswald"/>
                <a:ea typeface="Oswald"/>
                <a:cs typeface="Oswald"/>
                <a:sym typeface="Oswald"/>
              </a:rPr>
              <a:t>ALLEL GOAL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800758" y="3157313"/>
            <a:ext cx="2534389" cy="1856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38"/>
              </a:lnSpc>
              <a:spcBef>
                <a:spcPct val="0"/>
              </a:spcBef>
            </a:pPr>
            <a:r>
              <a:rPr lang="en-US" sz="2670">
                <a:solidFill>
                  <a:srgbClr val="100F0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O(</a:t>
            </a:r>
            <a:r>
              <a:rPr lang="en-US" sz="2670" strike="noStrike" u="none">
                <a:solidFill>
                  <a:srgbClr val="100F0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n²·n!) across all t due to sequential steps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125919"/>
            <a:ext cx="18288000" cy="1161081"/>
            <a:chOff x="0" y="0"/>
            <a:chExt cx="4816593" cy="30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05799"/>
            </a:xfrm>
            <a:custGeom>
              <a:avLst/>
              <a:gdLst/>
              <a:ahLst/>
              <a:cxnLst/>
              <a:rect r="r" b="b" t="t" l="l"/>
              <a:pathLst>
                <a:path h="30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05799"/>
                  </a:lnTo>
                  <a:lnTo>
                    <a:pt x="0" y="30579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4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545006" y="9541677"/>
            <a:ext cx="5197988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Back to 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2340491"/>
            <a:chOff x="0" y="0"/>
            <a:chExt cx="4816593" cy="6164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616426"/>
            </a:xfrm>
            <a:custGeom>
              <a:avLst/>
              <a:gdLst/>
              <a:ahLst/>
              <a:cxnLst/>
              <a:rect r="r" b="b" t="t" l="l"/>
              <a:pathLst>
                <a:path h="61642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16426"/>
                  </a:lnTo>
                  <a:lnTo>
                    <a:pt x="0" y="616426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816593" cy="673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619223" y="703439"/>
            <a:ext cx="13049553" cy="1789453"/>
            <a:chOff x="0" y="0"/>
            <a:chExt cx="17399404" cy="238593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76200"/>
              <a:ext cx="17399404" cy="1494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99"/>
                </a:lnSpc>
              </a:pPr>
              <a:r>
                <a:rPr lang="en-US" b="true" sz="6999">
                  <a:solidFill>
                    <a:srgbClr val="C0CFE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Parallel</a:t>
              </a:r>
              <a:r>
                <a:rPr lang="en-US" b="true" sz="6999">
                  <a:solidFill>
                    <a:srgbClr val="C0CFE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ization with MPI</a:t>
              </a:r>
              <a:r>
                <a:rPr lang="en-US" sz="6999">
                  <a:solidFill>
                    <a:srgbClr val="C0CFE1"/>
                  </a:solidFill>
                  <a:latin typeface="Klein"/>
                  <a:ea typeface="Klein"/>
                  <a:cs typeface="Klein"/>
                  <a:sym typeface="Klein"/>
                </a:rPr>
                <a:t>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845432" y="1678335"/>
              <a:ext cx="15708540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492919" y="6151424"/>
            <a:ext cx="1510891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4097124" y="5917967"/>
            <a:ext cx="501082" cy="50108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1211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9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893885" y="7225337"/>
            <a:ext cx="5102636" cy="85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3"/>
              </a:lnSpc>
            </a:pPr>
            <a:r>
              <a:rPr lang="en-US" sz="2502" spc="245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use METIS to split Σₙ into roughly equal chunks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33892" y="3586172"/>
            <a:ext cx="2027545" cy="1121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1"/>
              </a:lnSpc>
            </a:pPr>
            <a:r>
              <a:rPr lang="en-US" b="true" sz="6624" spc="6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93885" y="6473474"/>
            <a:ext cx="5102636" cy="60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6"/>
              </a:lnSpc>
            </a:pPr>
            <a:r>
              <a:rPr lang="en-US" b="true" sz="3613" spc="354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GRAPH PARTITION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819784" y="5919933"/>
            <a:ext cx="501082" cy="50108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121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9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033606" y="3538547"/>
            <a:ext cx="2027545" cy="1121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1"/>
              </a:lnSpc>
            </a:pPr>
            <a:r>
              <a:rPr lang="en-US" b="true" sz="6624" spc="649">
                <a:solidFill>
                  <a:srgbClr val="020202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205421" y="5919933"/>
            <a:ext cx="501082" cy="50108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1211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9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442189" y="3511223"/>
            <a:ext cx="2027545" cy="1121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1"/>
              </a:lnSpc>
            </a:pPr>
            <a:r>
              <a:rPr lang="en-US" b="true" sz="6624" spc="649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96521" y="7341827"/>
            <a:ext cx="4833330" cy="736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974"/>
              </a:lnSpc>
              <a:spcBef>
                <a:spcPct val="0"/>
              </a:spcBef>
            </a:pPr>
            <a:r>
              <a:rPr lang="en-US" sz="2155" spc="211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E</a:t>
            </a:r>
            <a:r>
              <a:rPr lang="en-US" sz="2155" spc="211" strike="noStrike" u="none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ach rank processes its subset of vertices v in parallel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317973" y="6544961"/>
            <a:ext cx="4190426" cy="52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4"/>
              </a:lnSpc>
            </a:pPr>
            <a:r>
              <a:rPr lang="en-US" b="true" sz="3112" spc="304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MPI RANKS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030193" y="7420310"/>
            <a:ext cx="3747252" cy="1179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165"/>
              </a:lnSpc>
              <a:spcBef>
                <a:spcPct val="0"/>
              </a:spcBef>
            </a:pPr>
            <a:r>
              <a:rPr lang="en-US" sz="2293" spc="22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293" spc="224" strike="noStrike" u="none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very rank computes parent pointers for all t in O(1) per v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30193" y="6482999"/>
            <a:ext cx="3899015" cy="53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68"/>
              </a:lnSpc>
            </a:pPr>
            <a:r>
              <a:rPr lang="en-US" b="true" sz="3237" spc="317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LOCAL PARENT1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3081883" y="3043502"/>
            <a:ext cx="2531565" cy="2531565"/>
          </a:xfrm>
          <a:custGeom>
            <a:avLst/>
            <a:gdLst/>
            <a:ahLst/>
            <a:cxnLst/>
            <a:rect r="r" b="b" t="t" l="l"/>
            <a:pathLst>
              <a:path h="2531565" w="2531565">
                <a:moveTo>
                  <a:pt x="0" y="0"/>
                </a:moveTo>
                <a:lnTo>
                  <a:pt x="2531565" y="0"/>
                </a:lnTo>
                <a:lnTo>
                  <a:pt x="2531565" y="2531565"/>
                </a:lnTo>
                <a:lnTo>
                  <a:pt x="0" y="2531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804542" y="2940693"/>
            <a:ext cx="2531565" cy="2531565"/>
          </a:xfrm>
          <a:custGeom>
            <a:avLst/>
            <a:gdLst/>
            <a:ahLst/>
            <a:cxnLst/>
            <a:rect r="r" b="b" t="t" l="l"/>
            <a:pathLst>
              <a:path h="2531565" w="2531565">
                <a:moveTo>
                  <a:pt x="0" y="0"/>
                </a:moveTo>
                <a:lnTo>
                  <a:pt x="2531565" y="0"/>
                </a:lnTo>
                <a:lnTo>
                  <a:pt x="2531565" y="2531565"/>
                </a:lnTo>
                <a:lnTo>
                  <a:pt x="0" y="2531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186058" y="2863446"/>
            <a:ext cx="2531565" cy="2531565"/>
          </a:xfrm>
          <a:custGeom>
            <a:avLst/>
            <a:gdLst/>
            <a:ahLst/>
            <a:cxnLst/>
            <a:rect r="r" b="b" t="t" l="l"/>
            <a:pathLst>
              <a:path h="2531565" w="2531565">
                <a:moveTo>
                  <a:pt x="0" y="0"/>
                </a:moveTo>
                <a:lnTo>
                  <a:pt x="2531565" y="0"/>
                </a:lnTo>
                <a:lnTo>
                  <a:pt x="2531565" y="2531566"/>
                </a:lnTo>
                <a:lnTo>
                  <a:pt x="0" y="2531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52641" y="2064825"/>
            <a:ext cx="4473739" cy="636748"/>
            <a:chOff x="0" y="0"/>
            <a:chExt cx="1178269" cy="1677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8269" cy="167703"/>
            </a:xfrm>
            <a:custGeom>
              <a:avLst/>
              <a:gdLst/>
              <a:ahLst/>
              <a:cxnLst/>
              <a:rect r="r" b="b" t="t" l="l"/>
              <a:pathLst>
                <a:path h="167703" w="1178269">
                  <a:moveTo>
                    <a:pt x="0" y="0"/>
                  </a:moveTo>
                  <a:lnTo>
                    <a:pt x="1178269" y="0"/>
                  </a:lnTo>
                  <a:lnTo>
                    <a:pt x="1178269" y="167703"/>
                  </a:lnTo>
                  <a:lnTo>
                    <a:pt x="0" y="16770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178269" cy="2248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  <a:r>
                <a:rPr lang="en-US" sz="2981" i="true" spc="29">
                  <a:solidFill>
                    <a:srgbClr val="FFFFFF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OpenMP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8967" y="2701573"/>
            <a:ext cx="9034431" cy="5512768"/>
            <a:chOff x="0" y="0"/>
            <a:chExt cx="1744696" cy="10646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44696" cy="1064605"/>
            </a:xfrm>
            <a:custGeom>
              <a:avLst/>
              <a:gdLst/>
              <a:ahLst/>
              <a:cxnLst/>
              <a:rect r="r" b="b" t="t" l="l"/>
              <a:pathLst>
                <a:path h="1064605" w="1744696">
                  <a:moveTo>
                    <a:pt x="0" y="0"/>
                  </a:moveTo>
                  <a:lnTo>
                    <a:pt x="1744696" y="0"/>
                  </a:lnTo>
                  <a:lnTo>
                    <a:pt x="1744696" y="1064605"/>
                  </a:lnTo>
                  <a:lnTo>
                    <a:pt x="0" y="10646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44696" cy="1083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14875" y="3240272"/>
            <a:ext cx="8522615" cy="399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6079" indent="-288039" lvl="1">
              <a:lnSpc>
                <a:spcPts val="3682"/>
              </a:lnSpc>
              <a:buFont typeface="Arial"/>
              <a:buChar char="•"/>
            </a:pPr>
            <a:r>
              <a:rPr lang="en-US" sz="2668" spc="261">
                <a:solidFill>
                  <a:srgbClr val="153969"/>
                </a:solidFill>
                <a:latin typeface="DM Sans"/>
                <a:ea typeface="DM Sans"/>
                <a:cs typeface="DM Sans"/>
                <a:sym typeface="DM Sans"/>
              </a:rPr>
              <a:t>OpenMP threads: within each MPI process, spawn threads over v’s subset</a:t>
            </a:r>
          </a:p>
          <a:p>
            <a:pPr algn="l">
              <a:lnSpc>
                <a:spcPts val="3543"/>
              </a:lnSpc>
            </a:pPr>
          </a:p>
          <a:p>
            <a:pPr algn="l" marL="554392" indent="-277196" lvl="1">
              <a:lnSpc>
                <a:spcPts val="3543"/>
              </a:lnSpc>
              <a:buFont typeface="Arial"/>
              <a:buChar char="•"/>
            </a:pPr>
            <a:r>
              <a:rPr lang="en-US" sz="2567" spc="251">
                <a:solidFill>
                  <a:srgbClr val="153969"/>
                </a:solidFill>
                <a:latin typeface="DM Sans"/>
                <a:ea typeface="DM Sans"/>
                <a:cs typeface="DM Sans"/>
                <a:sym typeface="DM Sans"/>
              </a:rPr>
              <a:t>Shared read‑only p⁻¹ and r(v) arrays → thread‑safe</a:t>
            </a:r>
          </a:p>
          <a:p>
            <a:pPr algn="l">
              <a:lnSpc>
                <a:spcPts val="3543"/>
              </a:lnSpc>
            </a:pPr>
          </a:p>
          <a:p>
            <a:pPr algn="l" marL="554392" indent="-277196" lvl="1">
              <a:lnSpc>
                <a:spcPts val="3543"/>
              </a:lnSpc>
              <a:buFont typeface="Arial"/>
              <a:buChar char="•"/>
            </a:pPr>
            <a:r>
              <a:rPr lang="en-US" sz="2567" spc="251">
                <a:solidFill>
                  <a:srgbClr val="153969"/>
                </a:solidFill>
                <a:latin typeface="DM Sans"/>
                <a:ea typeface="DM Sans"/>
                <a:cs typeface="DM Sans"/>
                <a:sym typeface="DM Sans"/>
              </a:rPr>
              <a:t>Result: full utilization of cores on each node</a:t>
            </a:r>
          </a:p>
          <a:p>
            <a:pPr algn="l">
              <a:lnSpc>
                <a:spcPts val="312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426265" y="2965913"/>
            <a:ext cx="5126491" cy="4984089"/>
          </a:xfrm>
          <a:custGeom>
            <a:avLst/>
            <a:gdLst/>
            <a:ahLst/>
            <a:cxnLst/>
            <a:rect r="r" b="b" t="t" l="l"/>
            <a:pathLst>
              <a:path h="4984089" w="5126491">
                <a:moveTo>
                  <a:pt x="0" y="0"/>
                </a:moveTo>
                <a:lnTo>
                  <a:pt x="5126491" y="0"/>
                </a:lnTo>
                <a:lnTo>
                  <a:pt x="5126491" y="4984088"/>
                </a:lnTo>
                <a:lnTo>
                  <a:pt x="0" y="4984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842800" y="340286"/>
            <a:ext cx="12010115" cy="184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6"/>
              </a:lnSpc>
            </a:pPr>
            <a:r>
              <a:rPr lang="en-US" b="true" sz="5330" spc="522">
                <a:solidFill>
                  <a:srgbClr val="226699"/>
                </a:solidFill>
                <a:latin typeface="Oswald Bold"/>
                <a:ea typeface="Oswald Bold"/>
                <a:cs typeface="Oswald Bold"/>
                <a:sym typeface="Oswald Bold"/>
              </a:rPr>
              <a:t>INTRA‑NODE PARALLELISM (OPENMP)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73671" y="3403479"/>
            <a:ext cx="4039802" cy="4239037"/>
            <a:chOff x="0" y="0"/>
            <a:chExt cx="1481724" cy="155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1724" cy="1554800"/>
            </a:xfrm>
            <a:custGeom>
              <a:avLst/>
              <a:gdLst/>
              <a:ahLst/>
              <a:cxnLst/>
              <a:rect r="r" b="b" t="t" l="l"/>
              <a:pathLst>
                <a:path h="1554800" w="1481724">
                  <a:moveTo>
                    <a:pt x="59409" y="0"/>
                  </a:moveTo>
                  <a:lnTo>
                    <a:pt x="1422315" y="0"/>
                  </a:lnTo>
                  <a:cubicBezTo>
                    <a:pt x="1455126" y="0"/>
                    <a:pt x="1481724" y="26598"/>
                    <a:pt x="1481724" y="59409"/>
                  </a:cubicBezTo>
                  <a:lnTo>
                    <a:pt x="1481724" y="1495391"/>
                  </a:lnTo>
                  <a:cubicBezTo>
                    <a:pt x="1481724" y="1511148"/>
                    <a:pt x="1475465" y="1526258"/>
                    <a:pt x="1464324" y="1537400"/>
                  </a:cubicBezTo>
                  <a:cubicBezTo>
                    <a:pt x="1453183" y="1548541"/>
                    <a:pt x="1438072" y="1554800"/>
                    <a:pt x="1422315" y="1554800"/>
                  </a:cubicBezTo>
                  <a:lnTo>
                    <a:pt x="59409" y="1554800"/>
                  </a:lnTo>
                  <a:cubicBezTo>
                    <a:pt x="26598" y="1554800"/>
                    <a:pt x="0" y="1528202"/>
                    <a:pt x="0" y="1495391"/>
                  </a:cubicBezTo>
                  <a:lnTo>
                    <a:pt x="0" y="59409"/>
                  </a:lnTo>
                  <a:cubicBezTo>
                    <a:pt x="0" y="26598"/>
                    <a:pt x="26598" y="0"/>
                    <a:pt x="59409" y="0"/>
                  </a:cubicBezTo>
                  <a:close/>
                </a:path>
              </a:pathLst>
            </a:custGeom>
            <a:solidFill>
              <a:srgbClr val="FFFFFF">
                <a:alpha val="9882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81724" cy="158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42915" y="7994941"/>
            <a:ext cx="4039802" cy="993300"/>
            <a:chOff x="0" y="0"/>
            <a:chExt cx="1481724" cy="3643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81724" cy="364324"/>
            </a:xfrm>
            <a:custGeom>
              <a:avLst/>
              <a:gdLst/>
              <a:ahLst/>
              <a:cxnLst/>
              <a:rect r="r" b="b" t="t" l="l"/>
              <a:pathLst>
                <a:path h="364324" w="1481724">
                  <a:moveTo>
                    <a:pt x="59409" y="0"/>
                  </a:moveTo>
                  <a:lnTo>
                    <a:pt x="1422315" y="0"/>
                  </a:lnTo>
                  <a:cubicBezTo>
                    <a:pt x="1455126" y="0"/>
                    <a:pt x="1481724" y="26598"/>
                    <a:pt x="1481724" y="59409"/>
                  </a:cubicBezTo>
                  <a:lnTo>
                    <a:pt x="1481724" y="304915"/>
                  </a:lnTo>
                  <a:cubicBezTo>
                    <a:pt x="1481724" y="320671"/>
                    <a:pt x="1475465" y="335782"/>
                    <a:pt x="1464324" y="346924"/>
                  </a:cubicBezTo>
                  <a:cubicBezTo>
                    <a:pt x="1453183" y="358065"/>
                    <a:pt x="1438072" y="364324"/>
                    <a:pt x="1422315" y="364324"/>
                  </a:cubicBezTo>
                  <a:lnTo>
                    <a:pt x="59409" y="364324"/>
                  </a:lnTo>
                  <a:cubicBezTo>
                    <a:pt x="26598" y="364324"/>
                    <a:pt x="0" y="337726"/>
                    <a:pt x="0" y="304915"/>
                  </a:cubicBezTo>
                  <a:lnTo>
                    <a:pt x="0" y="59409"/>
                  </a:lnTo>
                  <a:cubicBezTo>
                    <a:pt x="0" y="26598"/>
                    <a:pt x="26598" y="0"/>
                    <a:pt x="59409" y="0"/>
                  </a:cubicBezTo>
                  <a:close/>
                </a:path>
              </a:pathLst>
            </a:custGeom>
            <a:solidFill>
              <a:srgbClr val="FFFFFF">
                <a:alpha val="9882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81724" cy="392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22347" y="3403479"/>
            <a:ext cx="4419725" cy="4239037"/>
            <a:chOff x="0" y="0"/>
            <a:chExt cx="1621073" cy="1554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1073" cy="1554800"/>
            </a:xfrm>
            <a:custGeom>
              <a:avLst/>
              <a:gdLst/>
              <a:ahLst/>
              <a:cxnLst/>
              <a:rect r="r" b="b" t="t" l="l"/>
              <a:pathLst>
                <a:path h="1554800" w="1621073">
                  <a:moveTo>
                    <a:pt x="54302" y="0"/>
                  </a:moveTo>
                  <a:lnTo>
                    <a:pt x="1566771" y="0"/>
                  </a:lnTo>
                  <a:cubicBezTo>
                    <a:pt x="1581173" y="0"/>
                    <a:pt x="1594985" y="5721"/>
                    <a:pt x="1605168" y="15905"/>
                  </a:cubicBezTo>
                  <a:cubicBezTo>
                    <a:pt x="1615352" y="26088"/>
                    <a:pt x="1621073" y="39900"/>
                    <a:pt x="1621073" y="54302"/>
                  </a:cubicBezTo>
                  <a:lnTo>
                    <a:pt x="1621073" y="1500498"/>
                  </a:lnTo>
                  <a:cubicBezTo>
                    <a:pt x="1621073" y="1514900"/>
                    <a:pt x="1615352" y="1528712"/>
                    <a:pt x="1605168" y="1538896"/>
                  </a:cubicBezTo>
                  <a:cubicBezTo>
                    <a:pt x="1594985" y="1549079"/>
                    <a:pt x="1581173" y="1554800"/>
                    <a:pt x="1566771" y="1554800"/>
                  </a:cubicBezTo>
                  <a:lnTo>
                    <a:pt x="54302" y="1554800"/>
                  </a:lnTo>
                  <a:cubicBezTo>
                    <a:pt x="39900" y="1554800"/>
                    <a:pt x="26088" y="1549079"/>
                    <a:pt x="15905" y="1538896"/>
                  </a:cubicBezTo>
                  <a:cubicBezTo>
                    <a:pt x="5721" y="1528712"/>
                    <a:pt x="0" y="1514900"/>
                    <a:pt x="0" y="1500498"/>
                  </a:cubicBezTo>
                  <a:lnTo>
                    <a:pt x="0" y="54302"/>
                  </a:lnTo>
                  <a:cubicBezTo>
                    <a:pt x="0" y="39900"/>
                    <a:pt x="5721" y="26088"/>
                    <a:pt x="15905" y="15905"/>
                  </a:cubicBezTo>
                  <a:cubicBezTo>
                    <a:pt x="26088" y="5721"/>
                    <a:pt x="39900" y="0"/>
                    <a:pt x="54302" y="0"/>
                  </a:cubicBezTo>
                  <a:close/>
                </a:path>
              </a:pathLst>
            </a:custGeom>
            <a:solidFill>
              <a:srgbClr val="FFFFFF">
                <a:alpha val="9882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21073" cy="1573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22347" y="7994941"/>
            <a:ext cx="4250498" cy="1263359"/>
            <a:chOff x="0" y="0"/>
            <a:chExt cx="1559004" cy="4633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9004" cy="463377"/>
            </a:xfrm>
            <a:custGeom>
              <a:avLst/>
              <a:gdLst/>
              <a:ahLst/>
              <a:cxnLst/>
              <a:rect r="r" b="b" t="t" l="l"/>
              <a:pathLst>
                <a:path h="463377" w="1559004">
                  <a:moveTo>
                    <a:pt x="56464" y="0"/>
                  </a:moveTo>
                  <a:lnTo>
                    <a:pt x="1502540" y="0"/>
                  </a:lnTo>
                  <a:cubicBezTo>
                    <a:pt x="1517515" y="0"/>
                    <a:pt x="1531877" y="5949"/>
                    <a:pt x="1542466" y="16538"/>
                  </a:cubicBezTo>
                  <a:cubicBezTo>
                    <a:pt x="1553055" y="27127"/>
                    <a:pt x="1559004" y="41489"/>
                    <a:pt x="1559004" y="56464"/>
                  </a:cubicBezTo>
                  <a:lnTo>
                    <a:pt x="1559004" y="406913"/>
                  </a:lnTo>
                  <a:cubicBezTo>
                    <a:pt x="1559004" y="438097"/>
                    <a:pt x="1533724" y="463377"/>
                    <a:pt x="1502540" y="463377"/>
                  </a:cubicBezTo>
                  <a:lnTo>
                    <a:pt x="56464" y="463377"/>
                  </a:lnTo>
                  <a:cubicBezTo>
                    <a:pt x="25280" y="463377"/>
                    <a:pt x="0" y="438097"/>
                    <a:pt x="0" y="406913"/>
                  </a:cubicBezTo>
                  <a:lnTo>
                    <a:pt x="0" y="56464"/>
                  </a:lnTo>
                  <a:cubicBezTo>
                    <a:pt x="0" y="25280"/>
                    <a:pt x="25280" y="0"/>
                    <a:pt x="56464" y="0"/>
                  </a:cubicBezTo>
                  <a:close/>
                </a:path>
              </a:pathLst>
            </a:custGeom>
            <a:solidFill>
              <a:srgbClr val="FFFFFF">
                <a:alpha val="9882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559004" cy="482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171614" y="3498012"/>
            <a:ext cx="4141858" cy="412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71985" indent="-235993" lvl="1">
              <a:lnSpc>
                <a:spcPts val="3060"/>
              </a:lnSpc>
              <a:buFont typeface="Arial"/>
              <a:buChar char="•"/>
            </a:pPr>
            <a:r>
              <a:rPr lang="en-US" sz="2186">
                <a:solidFill>
                  <a:srgbClr val="100F0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Work per rank: O((n·n!)/P) total parent‐lookups across all trees</a:t>
            </a:r>
          </a:p>
          <a:p>
            <a:pPr algn="ctr">
              <a:lnSpc>
                <a:spcPts val="3060"/>
              </a:lnSpc>
            </a:pPr>
          </a:p>
          <a:p>
            <a:pPr algn="ctr" marL="471985" indent="-235993" lvl="1">
              <a:lnSpc>
                <a:spcPts val="3060"/>
              </a:lnSpc>
              <a:buFont typeface="Arial"/>
              <a:buChar char="•"/>
            </a:pPr>
            <a:r>
              <a:rPr lang="en-US" sz="2186">
                <a:solidFill>
                  <a:srgbClr val="100F0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Communication: one initial scatter of p⁻¹/r(v) arrays, negligible thereafter</a:t>
            </a:r>
          </a:p>
          <a:p>
            <a:pPr algn="ctr">
              <a:lnSpc>
                <a:spcPts val="3060"/>
              </a:lnSpc>
            </a:pPr>
          </a:p>
          <a:p>
            <a:pPr algn="ctr" marL="471985" indent="-235993" lvl="1">
              <a:lnSpc>
                <a:spcPts val="3060"/>
              </a:lnSpc>
              <a:buFont typeface="Arial"/>
              <a:buChar char="•"/>
            </a:pPr>
            <a:r>
              <a:rPr lang="en-US" sz="2186">
                <a:solidFill>
                  <a:srgbClr val="100F0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Latency: O(1) per lookup, no further synchronization</a:t>
            </a:r>
          </a:p>
          <a:p>
            <a:pPr algn="ctr">
              <a:lnSpc>
                <a:spcPts val="2654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089818" y="3308880"/>
            <a:ext cx="4545996" cy="4545996"/>
          </a:xfrm>
          <a:custGeom>
            <a:avLst/>
            <a:gdLst/>
            <a:ahLst/>
            <a:cxnLst/>
            <a:rect r="r" b="b" t="t" l="l"/>
            <a:pathLst>
              <a:path h="4545996" w="4545996">
                <a:moveTo>
                  <a:pt x="0" y="0"/>
                </a:moveTo>
                <a:lnTo>
                  <a:pt x="4545995" y="0"/>
                </a:lnTo>
                <a:lnTo>
                  <a:pt x="4545995" y="4545996"/>
                </a:lnTo>
                <a:lnTo>
                  <a:pt x="0" y="454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329258" y="7883010"/>
            <a:ext cx="4258974" cy="121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74"/>
              </a:lnSpc>
              <a:spcBef>
                <a:spcPct val="0"/>
              </a:spcBef>
            </a:pPr>
            <a:r>
              <a:rPr lang="en-US" sz="2372" spc="232">
                <a:solidFill>
                  <a:srgbClr val="226699"/>
                </a:solidFill>
                <a:latin typeface="Oswald"/>
                <a:ea typeface="Oswald"/>
                <a:cs typeface="Oswald"/>
                <a:sym typeface="Oswald"/>
              </a:rPr>
              <a:t>HYBRID</a:t>
            </a:r>
            <a:r>
              <a:rPr lang="en-US" sz="2372" spc="232" strike="noStrike" u="none">
                <a:solidFill>
                  <a:srgbClr val="226699"/>
                </a:solidFill>
                <a:latin typeface="Oswald"/>
                <a:ea typeface="Oswald"/>
                <a:cs typeface="Oswald"/>
                <a:sym typeface="Oswald"/>
              </a:rPr>
              <a:t> MPI</a:t>
            </a:r>
          </a:p>
          <a:p>
            <a:pPr algn="ctr" marL="0" indent="0" lvl="0">
              <a:lnSpc>
                <a:spcPts val="3274"/>
              </a:lnSpc>
              <a:spcBef>
                <a:spcPct val="0"/>
              </a:spcBef>
            </a:pPr>
            <a:r>
              <a:rPr lang="en-US" sz="2372" spc="232" strike="noStrike" u="none">
                <a:solidFill>
                  <a:srgbClr val="226699"/>
                </a:solidFill>
                <a:latin typeface="Oswald"/>
                <a:ea typeface="Oswald"/>
                <a:cs typeface="Oswald"/>
                <a:sym typeface="Oswald"/>
              </a:rPr>
              <a:t> + </a:t>
            </a:r>
          </a:p>
          <a:p>
            <a:pPr algn="ctr" marL="0" indent="0" lvl="0">
              <a:lnSpc>
                <a:spcPts val="3274"/>
              </a:lnSpc>
              <a:spcBef>
                <a:spcPct val="0"/>
              </a:spcBef>
            </a:pPr>
            <a:r>
              <a:rPr lang="en-US" sz="2372" spc="232" strike="noStrike" u="none">
                <a:solidFill>
                  <a:srgbClr val="226699"/>
                </a:solidFill>
                <a:latin typeface="Oswald"/>
                <a:ea typeface="Oswald"/>
                <a:cs typeface="Oswald"/>
                <a:sym typeface="Oswald"/>
              </a:rPr>
              <a:t>OPENMP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22347" y="3498012"/>
            <a:ext cx="4165885" cy="446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7260" indent="-228630" lvl="1">
              <a:lnSpc>
                <a:spcPts val="2965"/>
              </a:lnSpc>
              <a:spcBef>
                <a:spcPct val="0"/>
              </a:spcBef>
              <a:buFont typeface="Arial"/>
              <a:buChar char="•"/>
            </a:pPr>
            <a:r>
              <a:rPr lang="en-US" sz="2117" strike="noStrike" u="none">
                <a:solidFill>
                  <a:srgbClr val="100F0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Total work: O(n·n!) divided across P×T workers → O((n·n!)/(P·T)) per worker</a:t>
            </a:r>
          </a:p>
          <a:p>
            <a:pPr algn="ctr">
              <a:lnSpc>
                <a:spcPts val="2965"/>
              </a:lnSpc>
              <a:spcBef>
                <a:spcPct val="0"/>
              </a:spcBef>
            </a:pPr>
          </a:p>
          <a:p>
            <a:pPr algn="ctr" marL="457260" indent="-228630" lvl="1">
              <a:lnSpc>
                <a:spcPts val="2965"/>
              </a:lnSpc>
              <a:spcBef>
                <a:spcPct val="0"/>
              </a:spcBef>
              <a:buFont typeface="Arial"/>
              <a:buChar char="•"/>
            </a:pPr>
            <a:r>
              <a:rPr lang="en-US" sz="2117" strike="noStrike" u="none">
                <a:solidFill>
                  <a:srgbClr val="100F0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Scalability: near‑linear up to P·T ≲ n!/(some constant)</a:t>
            </a:r>
          </a:p>
          <a:p>
            <a:pPr algn="ctr">
              <a:lnSpc>
                <a:spcPts val="2965"/>
              </a:lnSpc>
              <a:spcBef>
                <a:spcPct val="0"/>
              </a:spcBef>
            </a:pPr>
          </a:p>
          <a:p>
            <a:pPr algn="ctr" marL="457260" indent="-228630" lvl="1">
              <a:lnSpc>
                <a:spcPts val="2965"/>
              </a:lnSpc>
              <a:spcBef>
                <a:spcPct val="0"/>
              </a:spcBef>
              <a:buFont typeface="Arial"/>
              <a:buChar char="•"/>
            </a:pPr>
            <a:r>
              <a:rPr lang="en-US" sz="2117" strike="noStrike" u="none">
                <a:solidFill>
                  <a:srgbClr val="100F0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Overall cost: O(n·n! + communication_overhead + thread_overhead) ≈ O(n·n!)/(P·T)</a:t>
            </a:r>
          </a:p>
          <a:p>
            <a:pPr algn="ctr">
              <a:lnSpc>
                <a:spcPts val="2965"/>
              </a:lnSpc>
              <a:spcBef>
                <a:spcPct val="0"/>
              </a:spcBef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449887" y="3328355"/>
            <a:ext cx="4545996" cy="4545996"/>
          </a:xfrm>
          <a:custGeom>
            <a:avLst/>
            <a:gdLst/>
            <a:ahLst/>
            <a:cxnLst/>
            <a:rect r="r" b="b" t="t" l="l"/>
            <a:pathLst>
              <a:path h="4545996" w="4545996">
                <a:moveTo>
                  <a:pt x="0" y="0"/>
                </a:moveTo>
                <a:lnTo>
                  <a:pt x="4545995" y="0"/>
                </a:lnTo>
                <a:lnTo>
                  <a:pt x="4545995" y="4545996"/>
                </a:lnTo>
                <a:lnTo>
                  <a:pt x="0" y="454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22930" y="541228"/>
            <a:ext cx="14439839" cy="2420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04"/>
              </a:lnSpc>
              <a:spcBef>
                <a:spcPct val="0"/>
              </a:spcBef>
            </a:pPr>
            <a:r>
              <a:rPr lang="en-US" b="true" sz="7032" spc="689">
                <a:solidFill>
                  <a:srgbClr val="226699"/>
                </a:solidFill>
                <a:latin typeface="Oswald Bold"/>
                <a:ea typeface="Oswald Bold"/>
                <a:cs typeface="Oswald Bold"/>
                <a:sym typeface="Oswald Bold"/>
              </a:rPr>
              <a:t>COMPLEXITY ANALYSIS OF PARALLELIZATION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98071" y="8159676"/>
            <a:ext cx="3288945" cy="527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6"/>
              </a:lnSpc>
              <a:spcBef>
                <a:spcPct val="0"/>
              </a:spcBef>
            </a:pPr>
            <a:r>
              <a:rPr lang="en-US" sz="3185" spc="312">
                <a:solidFill>
                  <a:srgbClr val="226699"/>
                </a:solidFill>
                <a:latin typeface="Oswald"/>
                <a:ea typeface="Oswald"/>
                <a:cs typeface="Oswald"/>
                <a:sym typeface="Oswald"/>
              </a:rPr>
              <a:t>MPI‑ONLY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08820" y="748144"/>
            <a:ext cx="8011490" cy="6278095"/>
          </a:xfrm>
          <a:custGeom>
            <a:avLst/>
            <a:gdLst/>
            <a:ahLst/>
            <a:cxnLst/>
            <a:rect r="r" b="b" t="t" l="l"/>
            <a:pathLst>
              <a:path h="6278095" w="8011490">
                <a:moveTo>
                  <a:pt x="0" y="0"/>
                </a:moveTo>
                <a:lnTo>
                  <a:pt x="8011490" y="0"/>
                </a:lnTo>
                <a:lnTo>
                  <a:pt x="8011490" y="6278095"/>
                </a:lnTo>
                <a:lnTo>
                  <a:pt x="0" y="62780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90523" y="7196635"/>
            <a:ext cx="14439839" cy="1191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04"/>
              </a:lnSpc>
              <a:spcBef>
                <a:spcPct val="0"/>
              </a:spcBef>
            </a:pPr>
            <a:r>
              <a:rPr lang="en-US" b="true" sz="7032" spc="689">
                <a:solidFill>
                  <a:srgbClr val="062A69"/>
                </a:solidFill>
                <a:latin typeface="Oswald Bold"/>
                <a:ea typeface="Oswald Bold"/>
                <a:cs typeface="Oswald Bold"/>
                <a:sym typeface="Oswald Bold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DAGlLK1rDIY</dc:identifier>
  <dcterms:modified xsi:type="dcterms:W3CDTF">2011-08-01T06:04:30Z</dcterms:modified>
  <cp:revision>1</cp:revision>
  <dc:title>Soft Sand Minimalist Modern Thesis Defense Presentation</dc:title>
</cp:coreProperties>
</file>